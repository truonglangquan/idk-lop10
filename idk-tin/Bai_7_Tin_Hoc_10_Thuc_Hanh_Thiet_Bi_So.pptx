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005840"/>
            <a:ext cx="9997135" cy="48463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548640"/>
          <a:lstStyle/>
          <a:p>
            <a:pPr algn="ctr">
              <a:defRPr sz="1300" b="1">
                <a:solidFill>
                  <a:srgbClr val="2563EB"/>
                </a:solidFill>
                <a:latin typeface="Calibri"/>
              </a:defRPr>
            </a:pPr>
            <a:r>
              <a:t>TIN HỌC 10 • BỘ SÁCH KẾT NỐI TRI THỨC VỚI CUỘC SỐNG • CHỦ ĐỀ 1</a:t>
            </a:r>
          </a:p>
          <a:p>
            <a:pPr algn="ctr">
              <a:defRPr sz="3200" b="1">
                <a:solidFill>
                  <a:srgbClr val="1A365D"/>
                </a:solidFill>
                <a:latin typeface="Calibri"/>
              </a:defRPr>
            </a:pPr>
            <a:r>
              <a:t>BÀI 7: THỰC HÀNH SỬ DỤNG</a:t>
            </a:r>
            <a:br/>
            <a:r>
              <a:t>THIẾT BỊ SỐ THÔNG DỤNG</a:t>
            </a:r>
          </a:p>
          <a:p>
            <a:pPr algn="ctr">
              <a:defRPr sz="1100">
                <a:solidFill>
                  <a:srgbClr val="0D9488"/>
                </a:solidFill>
              </a:defRPr>
            </a:pPr>
            <a:r>
              <a:t>━━━━━━━━━━━━━━━━━━━━━━━━━━━━━━━━━━━━━━━━━━</a:t>
            </a:r>
          </a:p>
          <a:p>
            <a:pPr algn="ctr">
              <a:defRPr sz="1400" b="1">
                <a:solidFill>
                  <a:srgbClr val="EA580C"/>
                </a:solidFill>
                <a:latin typeface="Calibri"/>
              </a:defRPr>
            </a:pPr>
            <a:r>
              <a:t>Nội dung toàn diện: Lý thuyết PDA &amp; 4 Nhiệm vụ thực hành • HĐ1 • LT1, LT2 • VD1, VD2, VD3</a:t>
            </a:r>
          </a:p>
          <a:p>
            <a:pPr algn="ctr">
              <a:defRPr sz="1300">
                <a:solidFill>
                  <a:srgbClr val="64748B"/>
                </a:solidFill>
                <a:latin typeface="Calibri"/>
              </a:defRPr>
            </a:pPr>
            <a:br/>
            <a:r>
              <a:t>Bài trình chiếu phục vụ học tập và thuyết trình trên lớp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100" b="1">
                <a:solidFill>
                  <a:srgbClr val="93C5FD"/>
                </a:solidFill>
                <a:latin typeface="Calibri"/>
              </a:defRPr>
            </a:pPr>
            <a:r>
              <a:t>TIN HỌC 10 - BÀI 7: THỰC HÀNH SỬ DỤNG THIẾT BỊ SỐ THÔNG DỤNG</a:t>
            </a:r>
          </a:p>
          <a:p>
            <a:pPr>
              <a:defRPr sz="2100" b="1">
                <a:solidFill>
                  <a:srgbClr val="FFFFFF"/>
                </a:solidFill>
                <a:latin typeface="Calibri"/>
              </a:defRPr>
            </a:pPr>
            <a:r>
              <a:t>MỤC TIÊU BÀI HỌC VÀ LỘ TRÌNH THỰC HÀNH</a:t>
            </a:r>
          </a:p>
        </p:txBody>
      </p:sp>
      <p:sp>
        <p:nvSpPr>
          <p:cNvPr id="3" name="Rounded Rectangle 2"/>
          <p:cNvSpPr/>
          <p:nvPr/>
        </p:nvSpPr>
        <p:spPr>
          <a:xfrm>
            <a:off x="731520" y="1645920"/>
            <a:ext cx="3383280" cy="466344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sz="1600" b="1">
                <a:solidFill>
                  <a:srgbClr val="1A365D"/>
                </a:solidFill>
                <a:latin typeface="Calibri"/>
              </a:defRPr>
            </a:pPr>
            <a:r>
              <a:t>🎯 MỤC TIÊU CẦN ĐẠT</a:t>
            </a:r>
          </a:p>
          <a:p>
            <a:pPr>
              <a:defRPr sz="1250">
                <a:solidFill>
                  <a:srgbClr val="1E293B"/>
                </a:solidFill>
                <a:latin typeface="Calibri"/>
              </a:defRPr>
            </a:pPr>
            <a:r>
              <a:t>• Biết được các thiết bị số cá nhân (PDA) thông dụng gồm những gì.</a:t>
            </a:r>
          </a:p>
          <a:p>
            <a:pPr>
              <a:defRPr sz="1250">
                <a:solidFill>
                  <a:srgbClr val="1E293B"/>
                </a:solidFill>
                <a:latin typeface="Calibri"/>
              </a:defRPr>
            </a:pPr>
            <a:r>
              <a:t>• Nắm bắt các tính năng tiêu biểu của thiết bị số di động.</a:t>
            </a:r>
          </a:p>
          <a:p>
            <a:pPr>
              <a:defRPr sz="1250">
                <a:solidFill>
                  <a:srgbClr val="1E293B"/>
                </a:solidFill>
                <a:latin typeface="Calibri"/>
              </a:defRPr>
            </a:pPr>
            <a:r>
              <a:t>• Khai thác và sử dụng thành thạo ứng dụng, dữ liệu trên smartphone, tablet.</a:t>
            </a:r>
          </a:p>
          <a:p>
            <a:pPr>
              <a:defRPr sz="1250">
                <a:solidFill>
                  <a:srgbClr val="1E293B"/>
                </a:solidFill>
                <a:latin typeface="Calibri"/>
              </a:defRPr>
            </a:pPr>
            <a:r>
              <a:t>• Thành thạo cấu trúc thư mục tệp tin (DCIM, Camera) và thao tác quản lý tệp.</a:t>
            </a:r>
          </a:p>
          <a:p>
            <a:pPr>
              <a:defRPr sz="1250">
                <a:solidFill>
                  <a:srgbClr val="1E293B"/>
                </a:solidFill>
                <a:latin typeface="Calibri"/>
              </a:defRPr>
            </a:pPr>
            <a:r>
              <a:t>• Kết nối chia sẻ dữ liệu máy tính và lưu trữ đám mây an toàn.</a:t>
            </a:r>
          </a:p>
        </p:txBody>
      </p:sp>
      <p:sp>
        <p:nvSpPr>
          <p:cNvPr id="4" name="Rounded Rectangle 3"/>
          <p:cNvSpPr/>
          <p:nvPr/>
        </p:nvSpPr>
        <p:spPr>
          <a:xfrm>
            <a:off x="4389120" y="1645920"/>
            <a:ext cx="3383280" cy="46634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sz="1600" b="1">
                <a:solidFill>
                  <a:srgbClr val="1A365D"/>
                </a:solidFill>
                <a:latin typeface="Calibri"/>
              </a:defRPr>
            </a:pPr>
            <a:r>
              <a:t>📚 NỘI DUNG LÝ THUYẾT &amp; THỰC HÀNH</a:t>
            </a:r>
          </a:p>
          <a:p>
            <a:pPr>
              <a:defRPr sz="1250">
                <a:solidFill>
                  <a:srgbClr val="1E293B"/>
                </a:solidFill>
                <a:latin typeface="Calibri"/>
              </a:defRPr>
            </a:pPr>
            <a:r>
              <a:t>✔ 1. Trợ thủ số cá nhân (PDA): Khái niệm, vai trò &amp; HĐ1.</a:t>
            </a:r>
          </a:p>
          <a:p>
            <a:pPr>
              <a:defRPr sz="1250">
                <a:solidFill>
                  <a:srgbClr val="1E293B"/>
                </a:solidFill>
                <a:latin typeface="Calibri"/>
              </a:defRPr>
            </a:pPr>
            <a:r>
              <a:t>✔ 2. Nhiệm vụ 1: Nhận biết nút bấm vật lý &amp; khởi động máy.</a:t>
            </a:r>
          </a:p>
          <a:p>
            <a:pPr>
              <a:defRPr sz="1250">
                <a:solidFill>
                  <a:srgbClr val="1E293B"/>
                </a:solidFill>
                <a:latin typeface="Calibri"/>
              </a:defRPr>
            </a:pPr>
            <a:r>
              <a:t>✔ 3. Nhiệm vụ 2: Màn hình chính, thanh trạng thái, điều hướng.</a:t>
            </a:r>
          </a:p>
          <a:p>
            <a:pPr>
              <a:defRPr sz="1250">
                <a:solidFill>
                  <a:srgbClr val="1E293B"/>
                </a:solidFill>
                <a:latin typeface="Calibri"/>
              </a:defRPr>
            </a:pPr>
            <a:r>
              <a:t>✔ 4. Nhiệm vụ 3: Khám phá ứng dụng thiết yếu &amp; cài đặt thêm.</a:t>
            </a:r>
          </a:p>
          <a:p>
            <a:pPr>
              <a:defRPr sz="1250">
                <a:solidFill>
                  <a:srgbClr val="1E293B"/>
                </a:solidFill>
                <a:latin typeface="Calibri"/>
              </a:defRPr>
            </a:pPr>
            <a:r>
              <a:t>✔ 5. Nhiệm vụ 4: Ứng dụng quản lý tệp tin và cây thư mục.</a:t>
            </a:r>
          </a:p>
          <a:p>
            <a:pPr>
              <a:defRPr sz="1250">
                <a:solidFill>
                  <a:srgbClr val="1E293B"/>
                </a:solidFill>
                <a:latin typeface="Calibri"/>
              </a:defRPr>
            </a:pPr>
            <a:r>
              <a:t>✔ 6. Luyện tập (LT1, LT2) &amp; Vận dụng (VD1, VD2, VD3).</a:t>
            </a:r>
          </a:p>
        </p:txBody>
      </p:sp>
      <p:sp>
        <p:nvSpPr>
          <p:cNvPr id="5" name="Rounded Rectangle 4"/>
          <p:cNvSpPr/>
          <p:nvPr/>
        </p:nvSpPr>
        <p:spPr>
          <a:xfrm>
            <a:off x="8046720" y="1645920"/>
            <a:ext cx="3383280" cy="466344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sz="1600" b="1">
                <a:solidFill>
                  <a:srgbClr val="1A365D"/>
                </a:solidFill>
                <a:latin typeface="Calibri"/>
              </a:defRPr>
            </a:pPr>
            <a:r>
              <a:t>⚙️ THIẾT BỊ &amp; CÔNG CỤ</a:t>
            </a:r>
          </a:p>
          <a:p>
            <a:pPr>
              <a:defRPr sz="1250">
                <a:solidFill>
                  <a:srgbClr val="1E293B"/>
                </a:solidFill>
                <a:latin typeface="Calibri"/>
              </a:defRPr>
            </a:pPr>
            <a:r>
              <a:t>➤ Điện thoại thông minh (chạy Android hoặc iOS/iPhone).</a:t>
            </a:r>
          </a:p>
          <a:p>
            <a:pPr>
              <a:defRPr sz="1250">
                <a:solidFill>
                  <a:srgbClr val="1E293B"/>
                </a:solidFill>
                <a:latin typeface="Calibri"/>
              </a:defRPr>
            </a:pPr>
            <a:r>
              <a:t>➤ Máy tính để bàn / Laptop có cổng USB.</a:t>
            </a:r>
          </a:p>
          <a:p>
            <a:pPr>
              <a:defRPr sz="1250">
                <a:solidFill>
                  <a:srgbClr val="1E293B"/>
                </a:solidFill>
                <a:latin typeface="Calibri"/>
              </a:defRPr>
            </a:pPr>
            <a:r>
              <a:t>➤ Cáp kết nối dữ liệu USB (Type-C / Lightning).</a:t>
            </a:r>
          </a:p>
          <a:p>
            <a:pPr>
              <a:defRPr sz="1250">
                <a:solidFill>
                  <a:srgbClr val="1E293B"/>
                </a:solidFill>
                <a:latin typeface="Calibri"/>
              </a:defRPr>
            </a:pPr>
            <a:r>
              <a:t>➤ Kết nối mạng Internet / Wi-Fi trường học hoặc gia đình.</a:t>
            </a:r>
          </a:p>
          <a:p>
            <a:pPr>
              <a:defRPr sz="1250">
                <a:solidFill>
                  <a:srgbClr val="1E293B"/>
                </a:solidFill>
                <a:latin typeface="Calibri"/>
              </a:defRPr>
            </a:pPr>
            <a:r>
              <a:t>➤ Tài khoản đám mây (Google Drive hoặc OneDrive).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100" b="1">
                <a:solidFill>
                  <a:srgbClr val="93C5FD"/>
                </a:solidFill>
                <a:latin typeface="Calibri"/>
              </a:defRPr>
            </a:pPr>
            <a:r>
              <a:t>TIN HỌC 10 - BÀI 7: THỰC HÀNH SỬ DỤNG THIẾT BỊ SỐ THÔNG DỤNG</a:t>
            </a:r>
          </a:p>
          <a:p>
            <a:pPr>
              <a:defRPr sz="2100" b="1">
                <a:solidFill>
                  <a:srgbClr val="FFFFFF"/>
                </a:solidFill>
                <a:latin typeface="Calibri"/>
              </a:defRPr>
            </a:pPr>
            <a:r>
              <a:t>1. TRỢ THỦ SỐ CÁ NHÂN (PDA) &amp; HOẠT ĐỘNG 1 (HĐ1)</a:t>
            </a:r>
          </a:p>
        </p:txBody>
      </p:sp>
      <p:sp>
        <p:nvSpPr>
          <p:cNvPr id="3" name="Rounded Rectangle 2"/>
          <p:cNvSpPr/>
          <p:nvPr/>
        </p:nvSpPr>
        <p:spPr>
          <a:xfrm>
            <a:off x="731520" y="1645920"/>
            <a:ext cx="5212080" cy="46634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00" b="1">
                <a:solidFill>
                  <a:srgbClr val="2563EB"/>
                </a:solidFill>
                <a:latin typeface="Calibri"/>
              </a:defRPr>
            </a:pPr>
            <a:r>
              <a:t>A. KHÁI NIỆM TRỢ THỦ SỐ CÁ NHÂN (PDA)</a:t>
            </a:r>
          </a:p>
          <a:p>
            <a:pPr>
              <a:defRPr sz="1250">
                <a:solidFill>
                  <a:srgbClr val="1E293B"/>
                </a:solidFill>
              </a:defRPr>
            </a:pPr>
            <a:r>
              <a:t>• PDA (Personal Digital Assistant) là các thiết bị số tích hợp nhiều chức năng và phần mềm ứng dụng hữu ích phục vụ người dùng trong đời sống hàng ngày.</a:t>
            </a:r>
            <a:br/>
            <a:r>
              <a:t>• Đặc điểm then chốt:</a:t>
            </a:r>
            <a:br/>
            <a:r>
              <a:t>  - Kích thước nhỏ gọn, tính di động cao, dễ mang theo người.</a:t>
            </a:r>
            <a:br/>
            <a:r>
              <a:t>  - Chạy hệ điều hành riêng biệt.</a:t>
            </a:r>
            <a:br/>
            <a:r>
              <a:t>  - Khả năng kết nối mạng không dây (Wi-Fi, 4G/5G, Bluetooth).</a:t>
            </a:r>
          </a:p>
          <a:p>
            <a:br/>
            <a:pPr>
              <a:defRPr sz="1400" b="1">
                <a:solidFill>
                  <a:srgbClr val="1A365D"/>
                </a:solidFill>
                <a:latin typeface="Calibri"/>
              </a:defRPr>
            </a:pPr>
            <a:r>
              <a:t>B. CÁC THIẾT BỊ PDA THÔNG DỤNG HIỆN NAY:</a:t>
            </a:r>
          </a:p>
          <a:p>
            <a:pPr>
              <a:defRPr sz="1200">
                <a:solidFill>
                  <a:srgbClr val="1E293B"/>
                </a:solidFill>
              </a:defRPr>
            </a:pPr>
            <a:r>
              <a:t>• Điện thoại thông minh (Smartphone): Phổ biến nhất, đa năng nhất.</a:t>
            </a:r>
          </a:p>
          <a:p>
            <a:pPr>
              <a:defRPr sz="1200">
                <a:solidFill>
                  <a:srgbClr val="1E293B"/>
                </a:solidFill>
              </a:defRPr>
            </a:pPr>
            <a:r>
              <a:t>• Máy tính bảng (Tablet): Màn hình lớn, tối ưu làm việc, học tập, vẽ.</a:t>
            </a:r>
          </a:p>
          <a:p>
            <a:pPr>
              <a:defRPr sz="1200">
                <a:solidFill>
                  <a:srgbClr val="1E293B"/>
                </a:solidFill>
              </a:defRPr>
            </a:pPr>
            <a:r>
              <a:t>• Đồng hồ thông minh (Smartwatch): Theo dõi sức khỏe, thông báo tiện ích.</a:t>
            </a:r>
          </a:p>
          <a:p>
            <a:pPr>
              <a:defRPr sz="1200">
                <a:solidFill>
                  <a:srgbClr val="1E293B"/>
                </a:solidFill>
              </a:defRPr>
            </a:pPr>
            <a:r>
              <a:t>• Máy đọc sách (E-reader): Màn hình E-Ink chuyên dụng đọc sách báo.</a:t>
            </a:r>
          </a:p>
        </p:txBody>
      </p:sp>
      <p:sp>
        <p:nvSpPr>
          <p:cNvPr id="4" name="Rounded Rectangle 3"/>
          <p:cNvSpPr/>
          <p:nvPr/>
        </p:nvSpPr>
        <p:spPr>
          <a:xfrm>
            <a:off x="6217920" y="1645920"/>
            <a:ext cx="5212080" cy="4663440"/>
          </a:xfrm>
          <a:prstGeom prst="roundRect">
            <a:avLst/>
          </a:prstGeom>
          <a:solidFill>
            <a:srgbClr val="EFF6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00" b="1">
                <a:solidFill>
                  <a:srgbClr val="0D9488"/>
                </a:solidFill>
                <a:latin typeface="Calibri"/>
              </a:defRPr>
            </a:pPr>
            <a:r>
              <a:t>C. HOẠT ĐỘNG 1: TÌM HIỂU THIẾT BỊ &amp; ỨNG DỤNG</a:t>
            </a:r>
          </a:p>
          <a:p>
            <a:pPr>
              <a:defRPr sz="1200">
                <a:solidFill>
                  <a:srgbClr val="1E293B"/>
                </a:solidFill>
              </a:defRPr>
            </a:pPr>
            <a:r>
              <a:t>❓ Câu hỏi HĐ1 (SGK trang 33): Hãy liệt kê một số thiết bị trợ thủ số cá nhân và các ứng dụng tiêu biểu đi kèm.</a:t>
            </a:r>
            <a:br/>
            <a:br/>
            <a:r>
              <a:t>Trả lời chi tiết:</a:t>
            </a:r>
            <a:br/>
            <a:r>
              <a:t>1. Ứng dụng ban đầu (Thời kỳ đầu của PDA):</a:t>
            </a:r>
            <a:br/>
            <a:r>
              <a:t>   - Sổ lịch công tác, đồng hồ để xem thời gian, đặt giờ báo thức.</a:t>
            </a:r>
            <a:br/>
            <a:r>
              <a:t>   - Sổ danh bạ ghi địa chỉ, số điện thoại liên hệ.</a:t>
            </a:r>
            <a:br/>
            <a:r>
              <a:t>   - Danh sách việc cần làm (to-do list), sổ ghi nhớ (notes), máy tính bỏ túi.</a:t>
            </a:r>
            <a:br/>
            <a:br/>
            <a:r>
              <a:t>2. Ứng dụng hiện đại ngày nay (Tích hợp siêu đa nhiệm):</a:t>
            </a:r>
            <a:br/>
            <a:r>
              <a:t>   - Nghe nhạc, ghi âm, xem phim, chụp ảnh, quay phim sắc nét.</a:t>
            </a:r>
            <a:br/>
            <a:r>
              <a:t>   - Gọi điện, nhắn tin đa phương tiện, định vị tìm đường (GPS).</a:t>
            </a:r>
            <a:br/>
            <a:r>
              <a:t>   - Điều khiển thiết bị điện tử từ xa, thanh toán thẻ / mã QR.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100" b="1">
                <a:solidFill>
                  <a:srgbClr val="93C5FD"/>
                </a:solidFill>
                <a:latin typeface="Calibri"/>
              </a:defRPr>
            </a:pPr>
            <a:r>
              <a:t>TIN HỌC 10 - BÀI 7: THỰC HÀNH SỬ DỤNG THIẾT BỊ SỐ THÔNG DỤNG</a:t>
            </a:r>
          </a:p>
          <a:p>
            <a:pPr>
              <a:defRPr sz="2100" b="1">
                <a:solidFill>
                  <a:srgbClr val="FFFFFF"/>
                </a:solidFill>
                <a:latin typeface="Calibri"/>
              </a:defRPr>
            </a:pPr>
            <a:r>
              <a:t>HĐ1: HỆ ĐIỀU HÀNH PHỔ BIẾN &amp; CÂU HỎI CỦNG CỐ</a:t>
            </a:r>
          </a:p>
        </p:txBody>
      </p:sp>
      <p:sp>
        <p:nvSpPr>
          <p:cNvPr id="3" name="Rounded Rectangle 2"/>
          <p:cNvSpPr/>
          <p:nvPr/>
        </p:nvSpPr>
        <p:spPr>
          <a:xfrm>
            <a:off x="731520" y="1645920"/>
            <a:ext cx="5212080" cy="46634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00" b="1">
                <a:solidFill>
                  <a:srgbClr val="2563EB"/>
                </a:solidFill>
                <a:latin typeface="Calibri"/>
              </a:defRPr>
            </a:pPr>
            <a:r>
              <a:t>📱 HAI HỆ ĐIỀU HÀNH THỐNG TRỊ PDA</a:t>
            </a:r>
          </a:p>
          <a:p>
            <a:pPr>
              <a:defRPr sz="1200" b="1">
                <a:solidFill>
                  <a:srgbClr val="1A365D"/>
                </a:solidFill>
              </a:defRPr>
            </a:pPr>
            <a:r>
              <a:t>1. Android (Hãng Google):</a:t>
            </a:r>
          </a:p>
          <a:p>
            <a:pPr>
              <a:defRPr sz="1200" b="0">
                <a:solidFill>
                  <a:srgbClr val="1E293B"/>
                </a:solidFill>
              </a:defRPr>
            </a:pPr>
            <a:r>
              <a:t>   - Hệ điều hành mã nguồn mở phổ biến nhất thế giới.</a:t>
            </a:r>
          </a:p>
          <a:p>
            <a:pPr>
              <a:defRPr sz="1200" b="0">
                <a:solidFill>
                  <a:srgbClr val="1E293B"/>
                </a:solidFill>
              </a:defRPr>
            </a:pPr>
            <a:r>
              <a:t>   - Trang bị trên hầu hết điện thoại của Samsung, Xiaomi, Oppo, Vivo...</a:t>
            </a:r>
          </a:p>
          <a:p>
            <a:pPr>
              <a:defRPr sz="1200" b="0">
                <a:solidFill>
                  <a:srgbClr val="1E293B"/>
                </a:solidFill>
              </a:defRPr>
            </a:pPr>
            <a:r>
              <a:t>   - Kho ứng dụng khổng lồ: Google Play Store.</a:t>
            </a:r>
          </a:p>
          <a:p>
            <a:pPr>
              <a:defRPr sz="1200" b="1">
                <a:solidFill>
                  <a:srgbClr val="1A365D"/>
                </a:solidFill>
              </a:defRPr>
            </a:pPr>
            <a:r>
              <a:t>2. iOS / iPadOS (Hãng Apple):</a:t>
            </a:r>
          </a:p>
          <a:p>
            <a:pPr>
              <a:defRPr sz="1200" b="0">
                <a:solidFill>
                  <a:srgbClr val="1E293B"/>
                </a:solidFill>
              </a:defRPr>
            </a:pPr>
            <a:r>
              <a:t>   - Hệ điều hành độc quyền chạy riêng trên iPhone và iPad.</a:t>
            </a:r>
          </a:p>
          <a:p>
            <a:pPr>
              <a:defRPr sz="1200" b="0">
                <a:solidFill>
                  <a:srgbClr val="1E293B"/>
                </a:solidFill>
              </a:defRPr>
            </a:pPr>
            <a:r>
              <a:t>   - Tối ưu hóa mượt mà, bảo mật cao, hệ sinh thái đồng bộ hoàn hảo.</a:t>
            </a:r>
          </a:p>
          <a:p>
            <a:pPr>
              <a:defRPr sz="1200" b="0">
                <a:solidFill>
                  <a:srgbClr val="1E293B"/>
                </a:solidFill>
              </a:defRPr>
            </a:pPr>
            <a:r>
              <a:t>   - Kho ứng dụng: Apple App Store.</a:t>
            </a:r>
          </a:p>
          <a:p>
            <a:pPr>
              <a:defRPr sz="1200" b="1">
                <a:solidFill>
                  <a:srgbClr val="1A365D"/>
                </a:solidFill>
              </a:defRPr>
            </a:pPr>
            <a:r>
              <a:t>3. Cổng giao tiếp &amp; kết nối trên PDA:</a:t>
            </a:r>
          </a:p>
          <a:p>
            <a:pPr>
              <a:defRPr sz="1200" b="0">
                <a:solidFill>
                  <a:srgbClr val="1E293B"/>
                </a:solidFill>
              </a:defRPr>
            </a:pPr>
            <a:r>
              <a:t>   - Cổng sạc và truyền tệp: USB Type-C, Lightning.</a:t>
            </a:r>
          </a:p>
          <a:p>
            <a:pPr>
              <a:defRPr sz="1200" b="0">
                <a:solidFill>
                  <a:srgbClr val="1E293B"/>
                </a:solidFill>
              </a:defRPr>
            </a:pPr>
            <a:r>
              <a:t>   - Kết nối không dây: Wi-Fi, Bluetooth, 4G / 5G, NFC.</a:t>
            </a:r>
          </a:p>
        </p:txBody>
      </p:sp>
      <p:sp>
        <p:nvSpPr>
          <p:cNvPr id="4" name="Rounded Rectangle 3"/>
          <p:cNvSpPr/>
          <p:nvPr/>
        </p:nvSpPr>
        <p:spPr>
          <a:xfrm>
            <a:off x="6217920" y="1645920"/>
            <a:ext cx="5212080" cy="4663440"/>
          </a:xfrm>
          <a:prstGeom prst="roundRect">
            <a:avLst/>
          </a:prstGeom>
          <a:solidFill>
            <a:srgbClr val="EFF6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00" b="1">
                <a:solidFill>
                  <a:srgbClr val="EA580C"/>
                </a:solidFill>
                <a:latin typeface="Calibri"/>
              </a:defRPr>
            </a:pPr>
            <a:r>
              <a:t>❓ CÂU HỎI CỦNG CỐ HĐ1 (SGK TRANG 34)</a:t>
            </a:r>
          </a:p>
          <a:p>
            <a:pPr>
              <a:defRPr sz="1500" b="1">
                <a:solidFill>
                  <a:srgbClr val="1A365D"/>
                </a:solidFill>
              </a:defRPr>
            </a:pPr>
            <a:r>
              <a:t>Kết nối nào KHÔNG phải là kết nối phổ biến trên các PDA hiện nay?</a:t>
            </a:r>
          </a:p>
          <a:p>
            <a:pPr>
              <a:defRPr sz="1400" b="0">
                <a:solidFill>
                  <a:srgbClr val="1E293B"/>
                </a:solidFill>
              </a:defRPr>
            </a:pPr>
            <a:r>
              <a:t>   A. Wi-Fi</a:t>
            </a:r>
          </a:p>
          <a:p>
            <a:pPr>
              <a:defRPr sz="1400" b="0">
                <a:solidFill>
                  <a:srgbClr val="1E293B"/>
                </a:solidFill>
              </a:defRPr>
            </a:pPr>
            <a:r>
              <a:t>   B. Bluetooth</a:t>
            </a:r>
          </a:p>
          <a:p>
            <a:pPr>
              <a:defRPr sz="1400" b="1">
                <a:solidFill>
                  <a:srgbClr val="16A34A"/>
                </a:solidFill>
              </a:defRPr>
            </a:pPr>
            <a:r>
              <a:t>   C. Hồng ngoại</a:t>
            </a:r>
          </a:p>
          <a:p>
            <a:pPr>
              <a:defRPr sz="1400" b="0">
                <a:solidFill>
                  <a:srgbClr val="1E293B"/>
                </a:solidFill>
              </a:defRPr>
            </a:pPr>
            <a:r>
              <a:t>   D. USB</a:t>
            </a:r>
          </a:p>
          <a:p>
            <a:br/>
            <a:pPr>
              <a:defRPr sz="1600" b="1">
                <a:solidFill>
                  <a:srgbClr val="16A34A"/>
                </a:solidFill>
              </a:defRPr>
            </a:pPr>
            <a:r>
              <a:t>💡 ĐÁP ÁN: C. HỒNG NGOẠI</a:t>
            </a:r>
          </a:p>
          <a:p>
            <a:pPr>
              <a:defRPr sz="1200">
                <a:solidFill>
                  <a:srgbClr val="1E293B"/>
                </a:solidFill>
              </a:defRPr>
            </a:pPr>
            <a:r>
              <a:t>• Giải thích: Cổng hồng ngoại có tốc độ rất chậm, cự ly ngắn (&lt; 1m) và phải hướng thẳng vào nhau. Hiện nay, Wi-Fi và Bluetooth với tốc độ cao, không cần ngắm thẳng đã thay thế hoàn toàn hồng ngoại.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100" b="1">
                <a:solidFill>
                  <a:srgbClr val="93C5FD"/>
                </a:solidFill>
                <a:latin typeface="Calibri"/>
              </a:defRPr>
            </a:pPr>
            <a:r>
              <a:t>TIN HỌC 10 - BÀI 7: THỰC HÀNH SỬ DỤNG THIẾT BỊ SỐ THÔNG DỤNG</a:t>
            </a:r>
          </a:p>
          <a:p>
            <a:pPr>
              <a:defRPr sz="2100" b="1">
                <a:solidFill>
                  <a:srgbClr val="FFFFFF"/>
                </a:solidFill>
                <a:latin typeface="Calibri"/>
              </a:defRPr>
            </a:pPr>
            <a:r>
              <a:t>2. THỰC HÀNH: NHIỆM VỤ 1 - NÚT BẤM VẬT LÝ &amp; KHỞI ĐỘNG</a:t>
            </a:r>
          </a:p>
        </p:txBody>
      </p:sp>
      <p:sp>
        <p:nvSpPr>
          <p:cNvPr id="3" name="Rounded Rectangle 2"/>
          <p:cNvSpPr/>
          <p:nvPr/>
        </p:nvSpPr>
        <p:spPr>
          <a:xfrm>
            <a:off x="731520" y="1645920"/>
            <a:ext cx="5212080" cy="46634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00" b="1">
                <a:solidFill>
                  <a:srgbClr val="2563EB"/>
                </a:solidFill>
                <a:latin typeface="Calibri"/>
              </a:defRPr>
            </a:pPr>
            <a:r>
              <a:t>🔘 CÁC NÚT BẤM VẬT LÝ TIÊU BIỂU</a:t>
            </a:r>
          </a:p>
          <a:p>
            <a:pPr>
              <a:defRPr sz="1200" b="1">
                <a:solidFill>
                  <a:srgbClr val="1A365D"/>
                </a:solidFill>
              </a:defRPr>
            </a:pPr>
            <a:r>
              <a:t>1. Nút khóa / Nguồn (Power / Lock Key):</a:t>
            </a:r>
          </a:p>
          <a:p>
            <a:pPr>
              <a:defRPr sz="1200" b="0">
                <a:solidFill>
                  <a:srgbClr val="1E293B"/>
                </a:solidFill>
              </a:defRPr>
            </a:pPr>
            <a:r>
              <a:t>   - Nhấn 1 lần: Tắt hoặc bật sáng màn hình để khóa/mở khóa.</a:t>
            </a:r>
          </a:p>
          <a:p>
            <a:pPr>
              <a:defRPr sz="1200" b="0">
                <a:solidFill>
                  <a:srgbClr val="1E293B"/>
                </a:solidFill>
              </a:defRPr>
            </a:pPr>
            <a:r>
              <a:t>   - Nhấn giữ lâu: Hiện menu Tắt nguồn (Power off), Khởi động lại (Restart), hoặc gọi khẩn cấp SOS.</a:t>
            </a:r>
          </a:p>
          <a:p>
            <a:pPr>
              <a:defRPr sz="1200" b="1">
                <a:solidFill>
                  <a:srgbClr val="1A365D"/>
                </a:solidFill>
              </a:defRPr>
            </a:pPr>
            <a:r>
              <a:t>2. Cụm nút điều chỉnh âm lượng (Volume +/-):</a:t>
            </a:r>
          </a:p>
          <a:p>
            <a:pPr>
              <a:defRPr sz="1200" b="0">
                <a:solidFill>
                  <a:srgbClr val="1E293B"/>
                </a:solidFill>
              </a:defRPr>
            </a:pPr>
            <a:r>
              <a:t>   - Tăng hoặc giảm âm lượng cuộc gọi, chuông báo, âm thanh đa phương tiện.</a:t>
            </a:r>
          </a:p>
          <a:p>
            <a:pPr>
              <a:defRPr sz="1200" b="0">
                <a:solidFill>
                  <a:srgbClr val="1E293B"/>
                </a:solidFill>
              </a:defRPr>
            </a:pPr>
            <a:r>
              <a:t>   - Kết hợp nút Nguồn để chụp ảnh màn hình (Screenshot).</a:t>
            </a:r>
          </a:p>
          <a:p>
            <a:pPr>
              <a:defRPr sz="1200" b="1">
                <a:solidFill>
                  <a:srgbClr val="1A365D"/>
                </a:solidFill>
              </a:defRPr>
            </a:pPr>
            <a:r>
              <a:t>3. Phím công tắc gạt âm thanh (Gạt rung trên iPhone):</a:t>
            </a:r>
          </a:p>
          <a:p>
            <a:pPr>
              <a:defRPr sz="1200" b="0">
                <a:solidFill>
                  <a:srgbClr val="1E293B"/>
                </a:solidFill>
              </a:defRPr>
            </a:pPr>
            <a:r>
              <a:t>   - Chuyển đổi siêu nhanh giữa chế độ Chuông và Rung/Im lặng.</a:t>
            </a:r>
          </a:p>
        </p:txBody>
      </p:sp>
      <p:sp>
        <p:nvSpPr>
          <p:cNvPr id="4" name="Rounded Rectangle 3"/>
          <p:cNvSpPr/>
          <p:nvPr/>
        </p:nvSpPr>
        <p:spPr>
          <a:xfrm>
            <a:off x="6217920" y="1645920"/>
            <a:ext cx="5212080" cy="4663440"/>
          </a:xfrm>
          <a:prstGeom prst="roundRect">
            <a:avLst/>
          </a:prstGeom>
          <a:solidFill>
            <a:srgbClr val="EFF6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00" b="1">
                <a:solidFill>
                  <a:srgbClr val="0D9488"/>
                </a:solidFill>
                <a:latin typeface="Calibri"/>
              </a:defRPr>
            </a:pPr>
            <a:r>
              <a:t>🚀 CÁC BƯỚC THỰC HIỆN NHIỆM VỤ 1</a:t>
            </a:r>
          </a:p>
          <a:p>
            <a:pPr>
              <a:defRPr sz="1200">
                <a:solidFill>
                  <a:srgbClr val="1E293B"/>
                </a:solidFill>
              </a:defRPr>
            </a:pPr>
            <a:r>
              <a:t>• Bước 1: Quan sát vị trí bố trí các nút bấm ở cạnh trái, cạnh phải thân máy điện thoại đang sử dụng.</a:t>
            </a:r>
          </a:p>
          <a:p>
            <a:pPr>
              <a:defRPr sz="1200">
                <a:solidFill>
                  <a:srgbClr val="1E293B"/>
                </a:solidFill>
              </a:defRPr>
            </a:pPr>
            <a:r>
              <a:t>• Bước 2: Bấm nút khóa để khởi động/đánh thức màn hình điện thoại.</a:t>
            </a:r>
          </a:p>
          <a:p>
            <a:pPr>
              <a:defRPr sz="1200">
                <a:solidFill>
                  <a:srgbClr val="1E293B"/>
                </a:solidFill>
              </a:defRPr>
            </a:pPr>
            <a:r>
              <a:t>• Bước 3: Mở khóa bằng mã PIN, mật khẩu, hình vẽ (pattern) hoặc sinh trắc học (vân tay, nhận diện khuôn mặt).</a:t>
            </a:r>
          </a:p>
          <a:p>
            <a:pPr>
              <a:defRPr sz="1200">
                <a:solidFill>
                  <a:srgbClr val="1E293B"/>
                </a:solidFill>
              </a:defRPr>
            </a:pPr>
            <a:r>
              <a:t>• Bước 4: Kiểm tra hệ điều hành đang dùng:</a:t>
            </a:r>
          </a:p>
          <a:p>
            <a:pPr>
              <a:defRPr sz="1200">
                <a:solidFill>
                  <a:srgbClr val="1E293B"/>
                </a:solidFill>
              </a:defRPr>
            </a:pPr>
            <a:r>
              <a:t>   - Vào Cài đặt (Settings) ➔ Thông tin điện thoại (About phone) ➔ Thông tin phần mềm (Software info) để xem phiên bản Android hoặc iOS.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100" b="1">
                <a:solidFill>
                  <a:srgbClr val="93C5FD"/>
                </a:solidFill>
                <a:latin typeface="Calibri"/>
              </a:defRPr>
            </a:pPr>
            <a:r>
              <a:t>TIN HỌC 10 - BÀI 7: THỰC HÀNH SỬ DỤNG THIẾT BỊ SỐ THÔNG DỤNG</a:t>
            </a:r>
          </a:p>
          <a:p>
            <a:pPr>
              <a:defRPr sz="2100" b="1">
                <a:solidFill>
                  <a:srgbClr val="FFFFFF"/>
                </a:solidFill>
                <a:latin typeface="Calibri"/>
              </a:defRPr>
            </a:pPr>
            <a:r>
              <a:t>2. THỰC HÀNH: NHIỆM VỤ 2 - MÀN HÌNH CHÍNH &amp; ĐIỀU HƯỚNG</a:t>
            </a:r>
          </a:p>
        </p:txBody>
      </p:sp>
      <p:sp>
        <p:nvSpPr>
          <p:cNvPr id="3" name="Rounded Rectangle 2"/>
          <p:cNvSpPr/>
          <p:nvPr/>
        </p:nvSpPr>
        <p:spPr>
          <a:xfrm>
            <a:off x="731520" y="1645920"/>
            <a:ext cx="5212080" cy="46634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00" b="1">
                <a:solidFill>
                  <a:srgbClr val="2563EB"/>
                </a:solidFill>
                <a:latin typeface="Calibri"/>
              </a:defRPr>
            </a:pPr>
            <a:r>
              <a:t>🖥️ CẤU TRÚC MÀN HÌNH CHÍNH (HOME SCREEN)</a:t>
            </a:r>
          </a:p>
          <a:p>
            <a:pPr>
              <a:defRPr sz="1200" b="1">
                <a:solidFill>
                  <a:srgbClr val="1A365D"/>
                </a:solidFill>
              </a:defRPr>
            </a:pPr>
            <a:r>
              <a:t>1. Thanh trạng thái (Status Bar - Ở trên cùng):</a:t>
            </a:r>
          </a:p>
          <a:p>
            <a:pPr>
              <a:defRPr sz="1200" b="0">
                <a:solidFill>
                  <a:srgbClr val="1E293B"/>
                </a:solidFill>
              </a:defRPr>
            </a:pPr>
            <a:r>
              <a:t>   - Hiển thị thời gian hiện tại, vạch sóng di động, cột sóng Wi-Fi/4G, tỉ lệ phần trăm pin còn lại, biểu tượng thông báo ứng dụng.</a:t>
            </a:r>
          </a:p>
          <a:p>
            <a:pPr>
              <a:defRPr sz="1200" b="1">
                <a:solidFill>
                  <a:srgbClr val="1A365D"/>
                </a:solidFill>
              </a:defRPr>
            </a:pPr>
            <a:r>
              <a:t>2. Khu vực lưới biểu tượng (App Icons Grid):</a:t>
            </a:r>
          </a:p>
          <a:p>
            <a:pPr>
              <a:defRPr sz="1200" b="0">
                <a:solidFill>
                  <a:srgbClr val="1E293B"/>
                </a:solidFill>
              </a:defRPr>
            </a:pPr>
            <a:r>
              <a:t>   - Nơi bố trí các biểu tượng ứng dụng và tiện ích (widgets: đồng hồ, thời tiết). Vuốt sang trái/phải để chuyển trang.</a:t>
            </a:r>
          </a:p>
          <a:p>
            <a:pPr>
              <a:defRPr sz="1200" b="1">
                <a:solidFill>
                  <a:srgbClr val="1A365D"/>
                </a:solidFill>
              </a:defRPr>
            </a:pPr>
            <a:r>
              <a:t>3. Thanh truy cập nhanh (Dock Bar - Dưới màn hình):</a:t>
            </a:r>
          </a:p>
          <a:p>
            <a:pPr>
              <a:defRPr sz="1200" b="0">
                <a:solidFill>
                  <a:srgbClr val="1E293B"/>
                </a:solidFill>
              </a:defRPr>
            </a:pPr>
            <a:r>
              <a:t>   - Chứa các app quan trọng nhất (Điện thoại, Tin nhắn, Danh bạ, Trình duyệt) cố định ở mọi trang màn hình.</a:t>
            </a:r>
          </a:p>
        </p:txBody>
      </p:sp>
      <p:sp>
        <p:nvSpPr>
          <p:cNvPr id="4" name="Rounded Rectangle 3"/>
          <p:cNvSpPr/>
          <p:nvPr/>
        </p:nvSpPr>
        <p:spPr>
          <a:xfrm>
            <a:off x="6217920" y="1645920"/>
            <a:ext cx="5212080" cy="4663440"/>
          </a:xfrm>
          <a:prstGeom prst="roundRect">
            <a:avLst/>
          </a:prstGeom>
          <a:solidFill>
            <a:srgbClr val="EFF6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00" b="1">
                <a:solidFill>
                  <a:srgbClr val="0D9488"/>
                </a:solidFill>
                <a:latin typeface="Calibri"/>
              </a:defRPr>
            </a:pPr>
            <a:r>
              <a:t>🧭 THANH ĐIỀU HƯỚNG &amp; CỬ CHỈ CẢM ỨNG</a:t>
            </a:r>
          </a:p>
          <a:p>
            <a:pPr>
              <a:defRPr sz="1200" b="1">
                <a:solidFill>
                  <a:srgbClr val="1A365D"/>
                </a:solidFill>
              </a:defRPr>
            </a:pPr>
            <a:r>
              <a:t>1. Ba phím điều hướng ảo (Navigation Bar trên Android):</a:t>
            </a:r>
          </a:p>
          <a:p>
            <a:pPr>
              <a:defRPr sz="1200" b="0">
                <a:solidFill>
                  <a:srgbClr val="1E293B"/>
                </a:solidFill>
              </a:defRPr>
            </a:pPr>
            <a:r>
              <a:t>   - Nút Home (Giữa): Bấm để quay về ngay màn hình chính.</a:t>
            </a:r>
          </a:p>
          <a:p>
            <a:pPr>
              <a:defRPr sz="1200" b="0">
                <a:solidFill>
                  <a:srgbClr val="1E293B"/>
                </a:solidFill>
              </a:defRPr>
            </a:pPr>
            <a:r>
              <a:t>   - Nút Quay lại / Back (Trái hoặc Phải): Trở về trang/màn hình thao tác trước đó.</a:t>
            </a:r>
          </a:p>
          <a:p>
            <a:pPr>
              <a:defRPr sz="1200" b="0">
                <a:solidFill>
                  <a:srgbClr val="1E293B"/>
                </a:solidFill>
              </a:defRPr>
            </a:pPr>
            <a:r>
              <a:t>   - Nút Tổng quan / Overview (Ba gạch hoặc ô vuông): Hiện danh sách các ứng dụng đang chạy nền để chuyển đổi hoặc đóng app.</a:t>
            </a:r>
          </a:p>
          <a:p>
            <a:pPr>
              <a:defRPr sz="1200" b="1">
                <a:solidFill>
                  <a:srgbClr val="1A365D"/>
                </a:solidFill>
              </a:defRPr>
            </a:pPr>
            <a:r>
              <a:t>2. Điều hướng cử chỉ hiện đại (Gesture Navigation):</a:t>
            </a:r>
          </a:p>
          <a:p>
            <a:pPr>
              <a:defRPr sz="1200" b="0">
                <a:solidFill>
                  <a:srgbClr val="1E293B"/>
                </a:solidFill>
              </a:defRPr>
            </a:pPr>
            <a:r>
              <a:t>   - Vuốt từ cạnh dưới lên: Về Home.</a:t>
            </a:r>
          </a:p>
          <a:p>
            <a:pPr>
              <a:defRPr sz="1200" b="0">
                <a:solidFill>
                  <a:srgbClr val="1E293B"/>
                </a:solidFill>
              </a:defRPr>
            </a:pPr>
            <a:r>
              <a:t>   - Vuốt từ mép trái/phải vào trong: Quay lại (Back).</a:t>
            </a:r>
          </a:p>
          <a:p>
            <a:pPr>
              <a:defRPr sz="1200" b="0">
                <a:solidFill>
                  <a:srgbClr val="1E293B"/>
                </a:solidFill>
              </a:defRPr>
            </a:pPr>
            <a:r>
              <a:t>   - Vuốt từ dưới lên và giữ 1 giây: Mở đa nhiệm ứng dụng.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100" b="1">
                <a:solidFill>
                  <a:srgbClr val="93C5FD"/>
                </a:solidFill>
                <a:latin typeface="Calibri"/>
              </a:defRPr>
            </a:pPr>
            <a:r>
              <a:t>TIN HỌC 10 - BÀI 7: THỰC HÀNH SỬ DỤNG THIẾT BỊ SỐ THÔNG DỤNG</a:t>
            </a:r>
          </a:p>
          <a:p>
            <a:pPr>
              <a:defRPr sz="2100" b="1">
                <a:solidFill>
                  <a:srgbClr val="FFFFFF"/>
                </a:solidFill>
                <a:latin typeface="Calibri"/>
              </a:defRPr>
            </a:pPr>
            <a:r>
              <a:t>2. THỰC HÀNH: NHIỆM VỤ 3 - CÁC NHÓM ỨNG DỤNG TRÊN ĐIỆN THOẠI</a:t>
            </a:r>
          </a:p>
        </p:txBody>
      </p:sp>
      <p:sp>
        <p:nvSpPr>
          <p:cNvPr id="3" name="Rounded Rectangle 2"/>
          <p:cNvSpPr/>
          <p:nvPr/>
        </p:nvSpPr>
        <p:spPr>
          <a:xfrm>
            <a:off x="731520" y="1645920"/>
            <a:ext cx="3383280" cy="46634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sz="1500" b="1">
                <a:solidFill>
                  <a:srgbClr val="2563EB"/>
                </a:solidFill>
                <a:latin typeface="Calibri"/>
              </a:defRPr>
            </a:pPr>
            <a:r>
              <a:t>📞 ỨNG DỤNG THIẾT YẾU</a:t>
            </a:r>
          </a:p>
          <a:p>
            <a:pPr>
              <a:defRPr sz="1250">
                <a:solidFill>
                  <a:srgbClr val="1E293B"/>
                </a:solidFill>
              </a:defRPr>
            </a:pPr>
            <a:r>
              <a:t>Đây là các ứng dụng nền tảng phục vụ chức năng nghe - gọi cơ bản:</a:t>
            </a:r>
          </a:p>
          <a:p>
            <a:pPr>
              <a:defRPr sz="1250">
                <a:solidFill>
                  <a:srgbClr val="1E293B"/>
                </a:solidFill>
              </a:defRPr>
            </a:pPr>
            <a:r>
              <a:t>• Điện thoại (Phone / Call): Quay số, thực hiện cuộc gọi, xem nhật ký liên lạc.</a:t>
            </a:r>
          </a:p>
          <a:p>
            <a:pPr>
              <a:defRPr sz="1250">
                <a:solidFill>
                  <a:srgbClr val="1E293B"/>
                </a:solidFill>
              </a:defRPr>
            </a:pPr>
            <a:r>
              <a:t>• Nhắn tin (Messages / SMS): Soạn và nhận tin nhắn văn bản, tin nhắn đa phương tiện.</a:t>
            </a:r>
          </a:p>
          <a:p>
            <a:pPr>
              <a:defRPr sz="1250">
                <a:solidFill>
                  <a:srgbClr val="1E293B"/>
                </a:solidFill>
              </a:defRPr>
            </a:pPr>
            <a:r>
              <a:t>• Danh bạ (Contacts): Quản lý lưu trữ tên, số điện thoại, email, địa chỉ của người thân, bạn bè.</a:t>
            </a:r>
          </a:p>
        </p:txBody>
      </p:sp>
      <p:sp>
        <p:nvSpPr>
          <p:cNvPr id="4" name="Rounded Rectangle 3"/>
          <p:cNvSpPr/>
          <p:nvPr/>
        </p:nvSpPr>
        <p:spPr>
          <a:xfrm>
            <a:off x="4389120" y="1645920"/>
            <a:ext cx="3383280" cy="4663440"/>
          </a:xfrm>
          <a:prstGeom prst="roundRect">
            <a:avLst/>
          </a:prstGeom>
          <a:solidFill>
            <a:srgbClr val="EFF6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sz="1500" b="1">
                <a:solidFill>
                  <a:srgbClr val="0D9488"/>
                </a:solidFill>
                <a:latin typeface="Calibri"/>
              </a:defRPr>
            </a:pPr>
            <a:r>
              <a:t>📷 ỨNG DỤNG MẶC ĐỊNH SẴN CÓ</a:t>
            </a:r>
          </a:p>
          <a:p>
            <a:pPr>
              <a:defRPr sz="1250">
                <a:solidFill>
                  <a:srgbClr val="1E293B"/>
                </a:solidFill>
              </a:defRPr>
            </a:pPr>
            <a:r>
              <a:t>Nhà sản xuất cài đặt sẵn nhằm hỗ trợ cuộc sống hàng ngày:</a:t>
            </a:r>
          </a:p>
          <a:p>
            <a:pPr>
              <a:defRPr sz="1250">
                <a:solidFill>
                  <a:srgbClr val="1E293B"/>
                </a:solidFill>
              </a:defRPr>
            </a:pPr>
            <a:r>
              <a:t>• Máy ảnh (Camera) &amp; Bộ sưu tập ảnh (Photos/Gallery): Ghi lại và quản lý album ảnh, video.</a:t>
            </a:r>
          </a:p>
          <a:p>
            <a:pPr>
              <a:defRPr sz="1250">
                <a:solidFill>
                  <a:srgbClr val="1E293B"/>
                </a:solidFill>
              </a:defRPr>
            </a:pPr>
            <a:r>
              <a:t>• Trình duyệt Web (Chrome, Safari): Truy cập tra cứu thông tin.</a:t>
            </a:r>
          </a:p>
          <a:p>
            <a:pPr>
              <a:defRPr sz="1250">
                <a:solidFill>
                  <a:srgbClr val="1E293B"/>
                </a:solidFill>
              </a:defRPr>
            </a:pPr>
            <a:r>
              <a:t>• Ứng dụng Email: Nhận gửi thư điện tử học tập, công việc.</a:t>
            </a:r>
          </a:p>
          <a:p>
            <a:pPr>
              <a:defRPr sz="1250">
                <a:solidFill>
                  <a:srgbClr val="1E293B"/>
                </a:solidFill>
              </a:defRPr>
            </a:pPr>
            <a:r>
              <a:t>• Tiện ích công cụ: Đồng hồ báo thức, Lịch, Máy tính số học, Ghi chú.</a:t>
            </a:r>
          </a:p>
        </p:txBody>
      </p:sp>
      <p:sp>
        <p:nvSpPr>
          <p:cNvPr id="5" name="Rounded Rectangle 4"/>
          <p:cNvSpPr/>
          <p:nvPr/>
        </p:nvSpPr>
        <p:spPr>
          <a:xfrm>
            <a:off x="8046720" y="1645920"/>
            <a:ext cx="3383280" cy="466344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sz="1500" b="1">
                <a:solidFill>
                  <a:srgbClr val="EA580C"/>
                </a:solidFill>
                <a:latin typeface="Calibri"/>
              </a:defRPr>
            </a:pPr>
            <a:r>
              <a:t>🌐 ỨNG DỤNG CÀI ĐẶT THÊM</a:t>
            </a:r>
          </a:p>
          <a:p>
            <a:pPr>
              <a:defRPr sz="1250">
                <a:solidFill>
                  <a:srgbClr val="1E293B"/>
                </a:solidFill>
              </a:defRPr>
            </a:pPr>
            <a:r>
              <a:t>Tải về từ Chợ ứng dụng (Google Play Store hoặc App Store):</a:t>
            </a:r>
          </a:p>
          <a:p>
            <a:pPr>
              <a:defRPr sz="1250">
                <a:solidFill>
                  <a:srgbClr val="1E293B"/>
                </a:solidFill>
              </a:defRPr>
            </a:pPr>
            <a:r>
              <a:t>• Học tập trực tuyến: Zoom, MS Teams, Google Meet, Google Classroom.</a:t>
            </a:r>
          </a:p>
          <a:p>
            <a:pPr>
              <a:defRPr sz="1250">
                <a:solidFill>
                  <a:srgbClr val="1E293B"/>
                </a:solidFill>
              </a:defRPr>
            </a:pPr>
            <a:r>
              <a:t>• Mạng xã hội &amp; Liên lạc: Zalo, Facebook, YouTube, Messenger.</a:t>
            </a:r>
          </a:p>
          <a:p>
            <a:pPr>
              <a:defRPr sz="1250">
                <a:solidFill>
                  <a:srgbClr val="1E293B"/>
                </a:solidFill>
              </a:defRPr>
            </a:pPr>
            <a:r>
              <a:t>• Lưu trữ đám mây: Google Drive, Microsoft OneDrive, Dropbox.</a:t>
            </a:r>
          </a:p>
          <a:p>
            <a:pPr>
              <a:defRPr sz="1250">
                <a:solidFill>
                  <a:srgbClr val="1E293B"/>
                </a:solidFill>
              </a:defRPr>
            </a:pPr>
            <a:r>
              <a:t>• Bản đồ &amp; Giao thông: Google Maps, ứng dụng đặt xe công nghệ.</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100" b="1">
                <a:solidFill>
                  <a:srgbClr val="93C5FD"/>
                </a:solidFill>
                <a:latin typeface="Calibri"/>
              </a:defRPr>
            </a:pPr>
            <a:r>
              <a:t>TIN HỌC 10 - BÀI 7: THỰC HÀNH SỬ DỤNG THIẾT BỊ SỐ THÔNG DỤNG</a:t>
            </a:r>
          </a:p>
          <a:p>
            <a:pPr>
              <a:defRPr sz="2100" b="1">
                <a:solidFill>
                  <a:srgbClr val="FFFFFF"/>
                </a:solidFill>
                <a:latin typeface="Calibri"/>
              </a:defRPr>
            </a:pPr>
            <a:r>
              <a:t>2. THỰC HÀNH: NHIỆM VỤ 4 - QUẢN LÝ TỆP TRÊN DI ĐỘNG</a:t>
            </a:r>
          </a:p>
        </p:txBody>
      </p:sp>
      <p:sp>
        <p:nvSpPr>
          <p:cNvPr id="3" name="Rounded Rectangle 2"/>
          <p:cNvSpPr/>
          <p:nvPr/>
        </p:nvSpPr>
        <p:spPr>
          <a:xfrm>
            <a:off x="731520" y="1645920"/>
            <a:ext cx="5212080" cy="46634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00" b="1">
                <a:solidFill>
                  <a:srgbClr val="2563EB"/>
                </a:solidFill>
                <a:latin typeface="Calibri"/>
              </a:defRPr>
            </a:pPr>
            <a:r>
              <a:t>📂 CẤU TRÚC PHÂN CẤP TỆP TIN DI ĐỘNG</a:t>
            </a:r>
          </a:p>
          <a:p>
            <a:pPr>
              <a:defRPr sz="1200">
                <a:solidFill>
                  <a:srgbClr val="1E293B"/>
                </a:solidFill>
              </a:defRPr>
            </a:pPr>
            <a:r>
              <a:t>• Hệ thống tệp trên điện thoại thông minh tổ chức theo cấu trúc hình cây phân cấp hoàn toàn tương tự máy tính:</a:t>
            </a:r>
            <a:br/>
            <a:r>
              <a:t>  - Thư mục gốc (Root) ➔ Các thư mục con ➔ Các tệp tin dữ liệu.</a:t>
            </a:r>
            <a:br/>
            <a:r>
              <a:t>• Các không gian lưu trữ chính:</a:t>
            </a:r>
            <a:br/>
            <a:r>
              <a:t>  - Bộ nhớ trong (Internal Storage): Bộ nhớ tích hợp trên máy.</a:t>
            </a:r>
            <a:br/>
            <a:r>
              <a:t>  - Thẻ nhớ ngoài (SD Card): Nếu điện thoại hỗ trợ khe cắm thẻ.</a:t>
            </a:r>
            <a:br/>
            <a:r>
              <a:t>  - Ổ đĩa đám mây (Cloud): Tích hợp trực tiếp trong ứng dụng tệp (như Google Drive, OneDrive, iCloud).</a:t>
            </a:r>
          </a:p>
          <a:p>
            <a:br/>
            <a:pPr>
              <a:defRPr sz="1300" b="1">
                <a:solidFill>
                  <a:srgbClr val="EA580C"/>
                </a:solidFill>
              </a:defRPr>
            </a:pPr>
            <a:r>
              <a:t>📸 Thư mục lưu trữ ảnh chuẩn:</a:t>
            </a:r>
          </a:p>
          <a:p>
            <a:pPr>
              <a:defRPr sz="1200">
                <a:solidFill>
                  <a:srgbClr val="1E293B"/>
                </a:solidFill>
              </a:defRPr>
            </a:pPr>
            <a:r>
              <a:t>• Toàn bộ ảnh chụp từ camera mặc định được lưu tại thư mục: DCIM (viết tắt của Digital Camera Images) ➔ Thư mục con Camera.</a:t>
            </a:r>
          </a:p>
        </p:txBody>
      </p:sp>
      <p:sp>
        <p:nvSpPr>
          <p:cNvPr id="4" name="Rounded Rectangle 3"/>
          <p:cNvSpPr/>
          <p:nvPr/>
        </p:nvSpPr>
        <p:spPr>
          <a:xfrm>
            <a:off x="6217920" y="1645920"/>
            <a:ext cx="5212080" cy="4663440"/>
          </a:xfrm>
          <a:prstGeom prst="roundRect">
            <a:avLst/>
          </a:prstGeom>
          <a:solidFill>
            <a:srgbClr val="EFF6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00" b="1">
                <a:solidFill>
                  <a:srgbClr val="0D9488"/>
                </a:solidFill>
                <a:latin typeface="Calibri"/>
              </a:defRPr>
            </a:pPr>
            <a:r>
              <a:t>🛠️ CÁC THAO TÁC QUẢN TRỊ TỆP CƠ BẢN</a:t>
            </a:r>
          </a:p>
          <a:p>
            <a:pPr>
              <a:defRPr sz="1150" b="1">
                <a:solidFill>
                  <a:srgbClr val="1A365D"/>
                </a:solidFill>
              </a:defRPr>
            </a:pPr>
            <a:r>
              <a:t>1. Mở xem tệp:</a:t>
            </a:r>
          </a:p>
          <a:p>
            <a:pPr>
              <a:defRPr sz="1150" b="0">
                <a:solidFill>
                  <a:srgbClr val="1E293B"/>
                </a:solidFill>
              </a:defRPr>
            </a:pPr>
            <a:r>
              <a:t>   - Nhấp chạm vào tệp để xem nội dung toàn màn hình.</a:t>
            </a:r>
          </a:p>
          <a:p>
            <a:pPr>
              <a:defRPr sz="1150" b="1">
                <a:solidFill>
                  <a:srgbClr val="1A365D"/>
                </a:solidFill>
              </a:defRPr>
            </a:pPr>
            <a:r>
              <a:t>2. Chọn nhiều tệp (Multi-select):</a:t>
            </a:r>
          </a:p>
          <a:p>
            <a:pPr>
              <a:defRPr sz="1150" b="0">
                <a:solidFill>
                  <a:srgbClr val="1E293B"/>
                </a:solidFill>
              </a:defRPr>
            </a:pPr>
            <a:r>
              <a:t>   - Chạm và giữ lâu (Long-press) vào 1 tệp, sau đó tích chọn các tệp còn lại.</a:t>
            </a:r>
          </a:p>
          <a:p>
            <a:pPr>
              <a:defRPr sz="1150" b="1">
                <a:solidFill>
                  <a:srgbClr val="1A365D"/>
                </a:solidFill>
              </a:defRPr>
            </a:pPr>
            <a:r>
              <a:t>3. Sao chép (Copy) &amp; Di chuyển (Move):</a:t>
            </a:r>
          </a:p>
          <a:p>
            <a:pPr>
              <a:defRPr sz="1150" b="0">
                <a:solidFill>
                  <a:srgbClr val="1E293B"/>
                </a:solidFill>
              </a:defRPr>
            </a:pPr>
            <a:r>
              <a:t>   - Chọn tệp ➔ Nhấn Sao chép hoặc Di chuyển ➔ Điều hướng tới thư mục đích ➔ Nhấn 'Dán ở đây' (Paste).</a:t>
            </a:r>
          </a:p>
          <a:p>
            <a:pPr>
              <a:defRPr sz="1150" b="1">
                <a:solidFill>
                  <a:srgbClr val="1A365D"/>
                </a:solidFill>
              </a:defRPr>
            </a:pPr>
            <a:r>
              <a:t>4. Đổi tên (Rename) &amp; Chia sẻ (Share):</a:t>
            </a:r>
          </a:p>
          <a:p>
            <a:pPr>
              <a:defRPr sz="1150" b="0">
                <a:solidFill>
                  <a:srgbClr val="1E293B"/>
                </a:solidFill>
              </a:defRPr>
            </a:pPr>
            <a:r>
              <a:t>   - Đổi tên tệp giúp quản lý dễ dàng; chia sẻ qua Bluetooth, Zalo, Drive.</a:t>
            </a:r>
          </a:p>
          <a:p>
            <a:pPr>
              <a:defRPr sz="1150" b="1">
                <a:solidFill>
                  <a:srgbClr val="1A365D"/>
                </a:solidFill>
              </a:defRPr>
            </a:pPr>
            <a:r>
              <a:t>5. Xóa tệp (Delete):</a:t>
            </a:r>
          </a:p>
          <a:p>
            <a:pPr>
              <a:defRPr sz="1150" b="0">
                <a:solidFill>
                  <a:srgbClr val="1E293B"/>
                </a:solidFill>
              </a:defRPr>
            </a:pPr>
            <a:r>
              <a:t>   - Chọn tệp ➔ Nhấn biểu tượng Thùng rác để giải phóng dung lượng.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100" b="1">
                <a:solidFill>
                  <a:srgbClr val="93C5FD"/>
                </a:solidFill>
                <a:latin typeface="Calibri"/>
              </a:defRPr>
            </a:pPr>
            <a:r>
              <a:t>TIN HỌC 10 - BÀI 7: THỰC HÀNH SỬ DỤNG THIẾT BỊ SỐ THÔNG DỤNG</a:t>
            </a:r>
          </a:p>
          <a:p>
            <a:pPr>
              <a:defRPr sz="2100" b="1">
                <a:solidFill>
                  <a:srgbClr val="FFFFFF"/>
                </a:solidFill>
                <a:latin typeface="Calibri"/>
              </a:defRPr>
            </a:pPr>
            <a:r>
              <a:t>LUYỆN TẬP 1 (LT1): PHÂN BIỆT SMARTPHONE VÀ ĐIỆN THOẠI THƯỜNG</a:t>
            </a:r>
          </a:p>
        </p:txBody>
      </p:sp>
      <p:sp>
        <p:nvSpPr>
          <p:cNvPr id="3" name="Rounded Rectangle 2"/>
          <p:cNvSpPr/>
          <p:nvPr/>
        </p:nvSpPr>
        <p:spPr>
          <a:xfrm>
            <a:off x="1097280" y="1645920"/>
            <a:ext cx="9997135" cy="46634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a:lstStyle/>
          <a:p>
            <a:pPr algn="ctr">
              <a:defRPr sz="1500" b="1">
                <a:solidFill>
                  <a:srgbClr val="EA580C"/>
                </a:solidFill>
                <a:latin typeface="Calibri"/>
              </a:defRPr>
            </a:pPr>
            <a:r>
              <a:t>❓ CÂU HỎI TRẮC NGHIỆM (SGK TRANG 37):</a:t>
            </a:r>
          </a:p>
          <a:p>
            <a:pPr>
              <a:defRPr sz="1700" b="1">
                <a:solidFill>
                  <a:srgbClr val="1A365D"/>
                </a:solidFill>
              </a:defRPr>
            </a:pPr>
            <a:r>
              <a:t>Điện thoại thông minh khác với điện thoại di động thường ở điểm nào?</a:t>
            </a:r>
          </a:p>
          <a:p>
            <a:pPr>
              <a:defRPr sz="1400" b="0">
                <a:solidFill>
                  <a:srgbClr val="1E293B"/>
                </a:solidFill>
              </a:defRPr>
            </a:pPr>
            <a:r>
              <a:t>   A. Có danh bạ.</a:t>
            </a:r>
          </a:p>
          <a:p>
            <a:pPr>
              <a:defRPr sz="1400" b="0">
                <a:solidFill>
                  <a:srgbClr val="1E293B"/>
                </a:solidFill>
              </a:defRPr>
            </a:pPr>
            <a:r>
              <a:t>   B. Có thể nhắn tin.</a:t>
            </a:r>
          </a:p>
          <a:p>
            <a:pPr>
              <a:defRPr sz="1400" b="0">
                <a:solidFill>
                  <a:srgbClr val="1E293B"/>
                </a:solidFill>
              </a:defRPr>
            </a:pPr>
            <a:r>
              <a:t>   C. Có thể kết nối Internet.</a:t>
            </a:r>
          </a:p>
          <a:p>
            <a:pPr>
              <a:defRPr sz="1400" b="1">
                <a:solidFill>
                  <a:srgbClr val="16A34A"/>
                </a:solidFill>
              </a:defRPr>
            </a:pPr>
            <a:r>
              <a:t>   D. Có hệ điều hành và có thể chạy được một số ứng dụng.</a:t>
            </a:r>
          </a:p>
          <a:p>
            <a:br/>
            <a:pPr>
              <a:defRPr sz="1700" b="1">
                <a:solidFill>
                  <a:srgbClr val="16A34A"/>
                </a:solidFill>
              </a:defRPr>
            </a:pPr>
            <a:r>
              <a:t>✅ ĐÁP ÁN ĐÚNG: D</a:t>
            </a:r>
          </a:p>
          <a:p>
            <a:pPr>
              <a:defRPr sz="1400" b="1">
                <a:solidFill>
                  <a:srgbClr val="1A365D"/>
                </a:solidFill>
              </a:defRPr>
            </a:pPr>
            <a:r>
              <a:t>🔍 GIẢI THÍCH CHI TIẾT BẢN CHẤT CÔNG NGHỆ:</a:t>
            </a:r>
          </a:p>
          <a:p>
            <a:pPr>
              <a:defRPr sz="1250">
                <a:solidFill>
                  <a:srgbClr val="1E293B"/>
                </a:solidFill>
              </a:defRPr>
            </a:pPr>
            <a:r>
              <a:t>• Điện thoại thường (Feature Phone / Cục gạch): Chạy phần mềm nhúng cố định (firmware). Người dùng không thể cài thêm phần mềm mới bên ngoài. Dù máy vẫn có danh bạ, nhắn tin SMS và thậm chí một số máy duyệt được web 2G cơ bản.</a:t>
            </a:r>
          </a:p>
          <a:p>
            <a:pPr>
              <a:defRPr sz="1250">
                <a:solidFill>
                  <a:srgbClr val="1E293B"/>
                </a:solidFill>
              </a:defRPr>
            </a:pPr>
            <a:r>
              <a:t>• Điện thoại thông minh (Smartphone): Có Hệ điều hành riêng (Android, iOS) với nhân hệ thống mạnh mẽ, hỗ trợ chạy đa nhiệm, và sở hữu kho ứng dụng (App Store, Google Play) cho phép người dùng tùy ý cài đặt hàng triệu ứng dụng theo nhu cầu.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100" b="1">
                <a:solidFill>
                  <a:srgbClr val="93C5FD"/>
                </a:solidFill>
                <a:latin typeface="Calibri"/>
              </a:defRPr>
            </a:pPr>
            <a:r>
              <a:t>TIN HỌC 10 - BÀI 7: THỰC HÀNH SỬ DỤNG THIẾT BỊ SỐ THÔNG DỤNG</a:t>
            </a:r>
          </a:p>
          <a:p>
            <a:pPr>
              <a:defRPr sz="2100" b="1">
                <a:solidFill>
                  <a:srgbClr val="FFFFFF"/>
                </a:solidFill>
                <a:latin typeface="Calibri"/>
              </a:defRPr>
            </a:pPr>
            <a:r>
              <a:t>LUYỆN TẬP 2 (LT2): THỰC HÀNH CHỤP ẢNH, DUYỆT TỆP &amp; XÓA ẢNH</a:t>
            </a:r>
          </a:p>
        </p:txBody>
      </p:sp>
      <p:sp>
        <p:nvSpPr>
          <p:cNvPr id="3" name="Rounded Rectangle 2"/>
          <p:cNvSpPr/>
          <p:nvPr/>
        </p:nvSpPr>
        <p:spPr>
          <a:xfrm>
            <a:off x="731520" y="1645920"/>
            <a:ext cx="1920240" cy="466344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1400" b="1">
                <a:solidFill>
                  <a:srgbClr val="EA580C"/>
                </a:solidFill>
                <a:latin typeface="Calibri"/>
              </a:defRPr>
            </a:pPr>
            <a:r>
              <a:t>BƯỚC 1</a:t>
            </a:r>
          </a:p>
          <a:p>
            <a:pPr algn="ctr">
              <a:defRPr sz="1500" b="1">
                <a:solidFill>
                  <a:srgbClr val="1A365D"/>
                </a:solidFill>
                <a:latin typeface="Calibri"/>
              </a:defRPr>
            </a:pPr>
            <a:r>
              <a:t>Chụp ảnh mới</a:t>
            </a:r>
          </a:p>
          <a:p>
            <a:pPr>
              <a:defRPr sz="800">
                <a:solidFill>
                  <a:srgbClr val="64748B"/>
                </a:solidFill>
              </a:defRPr>
            </a:pPr>
            <a:r>
              <a:t>─────────</a:t>
            </a:r>
          </a:p>
          <a:p>
            <a:pPr>
              <a:defRPr sz="1200">
                <a:solidFill>
                  <a:srgbClr val="1E293B"/>
                </a:solidFill>
                <a:latin typeface="Calibri"/>
              </a:defRPr>
            </a:pPr>
            <a:r>
              <a:t>• Mở ứng dụng Máy ảnh (Camera) trên máy.</a:t>
            </a:r>
            <a:br/>
            <a:r>
              <a:t>• Nhấn chụp một bức ảnh trong lớp học.</a:t>
            </a:r>
            <a:br/>
            <a:r>
              <a:t>• Tệp ảnh tự động được lưu vào bộ nhớ trong.</a:t>
            </a:r>
          </a:p>
        </p:txBody>
      </p:sp>
      <p:sp>
        <p:nvSpPr>
          <p:cNvPr id="4" name="Rounded Rectangle 3"/>
          <p:cNvSpPr/>
          <p:nvPr/>
        </p:nvSpPr>
        <p:spPr>
          <a:xfrm>
            <a:off x="2880360" y="1645920"/>
            <a:ext cx="1920240" cy="46634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1400" b="1">
                <a:solidFill>
                  <a:srgbClr val="EA580C"/>
                </a:solidFill>
                <a:latin typeface="Calibri"/>
              </a:defRPr>
            </a:pPr>
            <a:r>
              <a:t>BƯỚC 2</a:t>
            </a:r>
          </a:p>
          <a:p>
            <a:pPr algn="ctr">
              <a:defRPr sz="1500" b="1">
                <a:solidFill>
                  <a:srgbClr val="1A365D"/>
                </a:solidFill>
                <a:latin typeface="Calibri"/>
              </a:defRPr>
            </a:pPr>
            <a:r>
              <a:t>Mở Quản lý tệp</a:t>
            </a:r>
          </a:p>
          <a:p>
            <a:pPr>
              <a:defRPr sz="800">
                <a:solidFill>
                  <a:srgbClr val="64748B"/>
                </a:solidFill>
              </a:defRPr>
            </a:pPr>
            <a:r>
              <a:t>─────────</a:t>
            </a:r>
          </a:p>
          <a:p>
            <a:pPr>
              <a:defRPr sz="1200">
                <a:solidFill>
                  <a:srgbClr val="1E293B"/>
                </a:solidFill>
                <a:latin typeface="Calibri"/>
              </a:defRPr>
            </a:pPr>
            <a:r>
              <a:t>• Tìm ứng dụng quản lý tệp trên máy.</a:t>
            </a:r>
            <a:br/>
            <a:r>
              <a:t>• Tên ứng dụng: File Manager, My Files (Samsung) hoặc Tệp (Files trên iPhone).</a:t>
            </a:r>
            <a:br/>
            <a:r>
              <a:t>• Mở ứng dụng lên.</a:t>
            </a:r>
          </a:p>
        </p:txBody>
      </p:sp>
      <p:sp>
        <p:nvSpPr>
          <p:cNvPr id="5" name="Rounded Rectangle 4"/>
          <p:cNvSpPr/>
          <p:nvPr/>
        </p:nvSpPr>
        <p:spPr>
          <a:xfrm>
            <a:off x="5029200" y="1645920"/>
            <a:ext cx="1920240" cy="4663440"/>
          </a:xfrm>
          <a:prstGeom prst="roundRect">
            <a:avLst/>
          </a:prstGeom>
          <a:solidFill>
            <a:srgbClr val="EFF6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1400" b="1">
                <a:solidFill>
                  <a:srgbClr val="EA580C"/>
                </a:solidFill>
                <a:latin typeface="Calibri"/>
              </a:defRPr>
            </a:pPr>
            <a:r>
              <a:t>BƯỚC 3</a:t>
            </a:r>
          </a:p>
          <a:p>
            <a:pPr algn="ctr">
              <a:defRPr sz="1500" b="1">
                <a:solidFill>
                  <a:srgbClr val="1A365D"/>
                </a:solidFill>
                <a:latin typeface="Calibri"/>
              </a:defRPr>
            </a:pPr>
            <a:r>
              <a:t>Định vị DCIM</a:t>
            </a:r>
          </a:p>
          <a:p>
            <a:pPr>
              <a:defRPr sz="800">
                <a:solidFill>
                  <a:srgbClr val="64748B"/>
                </a:solidFill>
              </a:defRPr>
            </a:pPr>
            <a:r>
              <a:t>─────────</a:t>
            </a:r>
          </a:p>
          <a:p>
            <a:pPr>
              <a:defRPr sz="1200">
                <a:solidFill>
                  <a:srgbClr val="1E293B"/>
                </a:solidFill>
                <a:latin typeface="Calibri"/>
              </a:defRPr>
            </a:pPr>
            <a:r>
              <a:t>• Chọn: Bộ nhớ trong (Internal Storage).</a:t>
            </a:r>
            <a:br/>
            <a:r>
              <a:t>• Tìm và mở thư mục DCIM (Digital Camera Images).</a:t>
            </a:r>
            <a:br/>
            <a:r>
              <a:t>• Nhấp chọn thư mục con Camera.</a:t>
            </a:r>
          </a:p>
        </p:txBody>
      </p:sp>
      <p:sp>
        <p:nvSpPr>
          <p:cNvPr id="6" name="Rounded Rectangle 5"/>
          <p:cNvSpPr/>
          <p:nvPr/>
        </p:nvSpPr>
        <p:spPr>
          <a:xfrm>
            <a:off x="7178040" y="1645920"/>
            <a:ext cx="1920240" cy="46634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1400" b="1">
                <a:solidFill>
                  <a:srgbClr val="EA580C"/>
                </a:solidFill>
                <a:latin typeface="Calibri"/>
              </a:defRPr>
            </a:pPr>
            <a:r>
              <a:t>BƯỚC 4</a:t>
            </a:r>
          </a:p>
          <a:p>
            <a:pPr algn="ctr">
              <a:defRPr sz="1500" b="1">
                <a:solidFill>
                  <a:srgbClr val="1A365D"/>
                </a:solidFill>
                <a:latin typeface="Calibri"/>
              </a:defRPr>
            </a:pPr>
            <a:r>
              <a:t>Mở xem ảnh</a:t>
            </a:r>
          </a:p>
          <a:p>
            <a:pPr>
              <a:defRPr sz="800">
                <a:solidFill>
                  <a:srgbClr val="64748B"/>
                </a:solidFill>
              </a:defRPr>
            </a:pPr>
            <a:r>
              <a:t>─────────</a:t>
            </a:r>
          </a:p>
          <a:p>
            <a:pPr>
              <a:defRPr sz="1200">
                <a:solidFill>
                  <a:srgbClr val="1E293B"/>
                </a:solidFill>
                <a:latin typeface="Calibri"/>
              </a:defRPr>
            </a:pPr>
            <a:r>
              <a:t>• Tìm bức ảnh vừa chụp (thường đứng đầu danh sách, đuôi .jpg hoặc .heic).</a:t>
            </a:r>
            <a:br/>
            <a:r>
              <a:t>• Chạm vào tệp để xem toàn màn hình và kiểm tra thông tin.</a:t>
            </a:r>
          </a:p>
        </p:txBody>
      </p:sp>
      <p:sp>
        <p:nvSpPr>
          <p:cNvPr id="7" name="Rounded Rectangle 6"/>
          <p:cNvSpPr/>
          <p:nvPr/>
        </p:nvSpPr>
        <p:spPr>
          <a:xfrm>
            <a:off x="9326880" y="1645920"/>
            <a:ext cx="1920240" cy="466344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1400" b="1">
                <a:solidFill>
                  <a:srgbClr val="EA580C"/>
                </a:solidFill>
                <a:latin typeface="Calibri"/>
              </a:defRPr>
            </a:pPr>
            <a:r>
              <a:t>BƯỚC 5</a:t>
            </a:r>
          </a:p>
          <a:p>
            <a:pPr algn="ctr">
              <a:defRPr sz="1500" b="1">
                <a:solidFill>
                  <a:srgbClr val="1A365D"/>
                </a:solidFill>
                <a:latin typeface="Calibri"/>
              </a:defRPr>
            </a:pPr>
            <a:r>
              <a:t>Xóa tệp ảnh</a:t>
            </a:r>
          </a:p>
          <a:p>
            <a:pPr>
              <a:defRPr sz="800">
                <a:solidFill>
                  <a:srgbClr val="64748B"/>
                </a:solidFill>
              </a:defRPr>
            </a:pPr>
            <a:r>
              <a:t>─────────</a:t>
            </a:r>
          </a:p>
          <a:p>
            <a:pPr>
              <a:defRPr sz="1200">
                <a:solidFill>
                  <a:srgbClr val="1E293B"/>
                </a:solidFill>
                <a:latin typeface="Calibri"/>
              </a:defRPr>
            </a:pPr>
            <a:r>
              <a:t>• Chạm và giữ lâu vào tệp ảnh (Long press).</a:t>
            </a:r>
            <a:br/>
            <a:r>
              <a:t>• Chọn biểu tượng Thùng rác (Xóa / Delete).</a:t>
            </a:r>
            <a:br/>
            <a:r>
              <a:t>• Bấm 'Xác nhận xóa' để hoàn tất bài thực hành.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100" b="1">
                <a:solidFill>
                  <a:srgbClr val="93C5FD"/>
                </a:solidFill>
                <a:latin typeface="Calibri"/>
              </a:defRPr>
            </a:pPr>
            <a:r>
              <a:t>TIN HỌC 10 - BÀI 7: THỰC HÀNH SỬ DỤNG THIẾT BỊ SỐ THÔNG DỤNG</a:t>
            </a:r>
          </a:p>
          <a:p>
            <a:pPr>
              <a:defRPr sz="2100" b="1">
                <a:solidFill>
                  <a:srgbClr val="FFFFFF"/>
                </a:solidFill>
                <a:latin typeface="Calibri"/>
              </a:defRPr>
            </a:pPr>
            <a:r>
              <a:t>VẬN DỤNG 1 (VD1): KẾT NỐI ĐIỆN THOẠI VỚI MÁY TÍNH ĐỂ SAO CHÉP ẢNH</a:t>
            </a:r>
          </a:p>
        </p:txBody>
      </p:sp>
      <p:sp>
        <p:nvSpPr>
          <p:cNvPr id="3" name="Rounded Rectangle 2"/>
          <p:cNvSpPr/>
          <p:nvPr/>
        </p:nvSpPr>
        <p:spPr>
          <a:xfrm>
            <a:off x="731520" y="1645920"/>
            <a:ext cx="6217920" cy="46634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600" b="1">
                <a:solidFill>
                  <a:srgbClr val="1A365D"/>
                </a:solidFill>
                <a:latin typeface="Calibri"/>
              </a:defRPr>
            </a:pPr>
            <a:r>
              <a:t>📋 QUY TRÌNH THỰC HIỆN QUA CÁP USB:</a:t>
            </a:r>
          </a:p>
          <a:p>
            <a:pPr>
              <a:defRPr sz="1200">
                <a:solidFill>
                  <a:srgbClr val="1E293B"/>
                </a:solidFill>
              </a:defRPr>
            </a:pPr>
            <a:r>
              <a:t>Bước 1 (Cắm cáp): Dùng cáp USB, cắm một đầu vào điện thoại, đầu kia cắm vào cổng USB trên máy tính.</a:t>
            </a:r>
          </a:p>
          <a:p>
            <a:pPr>
              <a:defRPr sz="1200">
                <a:solidFill>
                  <a:srgbClr val="1E293B"/>
                </a:solidFill>
              </a:defRPr>
            </a:pPr>
            <a:r>
              <a:t>Bước 2 (Cấp quyền MTP): Vuốt màn hình điện thoại xuống, chọn chế độ 'Truyền tệp / Truyền tệp tin' (File Transfer / MTP). (Trên iPhone: Nhấn 'Tin cậy máy tính này').</a:t>
            </a:r>
          </a:p>
          <a:p>
            <a:pPr>
              <a:defRPr sz="1200">
                <a:solidFill>
                  <a:srgbClr val="1E293B"/>
                </a:solidFill>
              </a:defRPr>
            </a:pPr>
            <a:r>
              <a:t>Bước 3 (Mở trên máy tính): Mở This PC (File Explorer) trên máy tính, nhấp đúp vào biểu tượng tên điện thoại.</a:t>
            </a:r>
          </a:p>
          <a:p>
            <a:pPr>
              <a:defRPr sz="1200">
                <a:solidFill>
                  <a:srgbClr val="1E293B"/>
                </a:solidFill>
              </a:defRPr>
            </a:pPr>
            <a:r>
              <a:t>Bước 4 (Định vị ảnh): Vào: Bộ nhớ trong (Internal Storage) ➔ DCIM ➔ Camera.</a:t>
            </a:r>
          </a:p>
          <a:p>
            <a:pPr>
              <a:defRPr sz="1200">
                <a:solidFill>
                  <a:srgbClr val="1E293B"/>
                </a:solidFill>
              </a:defRPr>
            </a:pPr>
            <a:r>
              <a:t>Bước 5 (Sao chép): Chọn các ảnh cần chuyển ➔ Chuột phải chọn Copy (Ctrl+C) ➔ Chuyển sang thư mục đích trên máy tính ➔ Chuột phải chọn Paste (Ctrl+V).</a:t>
            </a:r>
          </a:p>
        </p:txBody>
      </p:sp>
      <p:sp>
        <p:nvSpPr>
          <p:cNvPr id="4" name="Rounded Rectangle 3"/>
          <p:cNvSpPr/>
          <p:nvPr/>
        </p:nvSpPr>
        <p:spPr>
          <a:xfrm>
            <a:off x="7223760" y="1645920"/>
            <a:ext cx="4206240" cy="4663440"/>
          </a:xfrm>
          <a:prstGeom prst="roundRect">
            <a:avLst/>
          </a:prstGeom>
          <a:solidFill>
            <a:srgbClr val="EFF6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00" b="1">
                <a:solidFill>
                  <a:srgbClr val="EA580C"/>
                </a:solidFill>
                <a:latin typeface="Calibri"/>
              </a:defRPr>
            </a:pPr>
            <a:r>
              <a:t>⚠️ LƯU Ý KỸ THUẬT &amp; MỞ RỘNG:</a:t>
            </a:r>
          </a:p>
          <a:p>
            <a:pPr>
              <a:defRPr sz="1250">
                <a:solidFill>
                  <a:srgbClr val="1E293B"/>
                </a:solidFill>
              </a:defRPr>
            </a:pPr>
            <a:r>
              <a:t>• Dùng cáp truyền dữ liệu: Cáp sạc đơn thuần không truyền được tệp.</a:t>
            </a:r>
          </a:p>
          <a:p>
            <a:pPr>
              <a:defRPr sz="1250">
                <a:solidFill>
                  <a:srgbClr val="1E293B"/>
                </a:solidFill>
              </a:defRPr>
            </a:pPr>
            <a:r>
              <a:t>• Mở khóa màn hình: Điện thoại phải mở khóa thì máy tính mới đọc được tệp tin.</a:t>
            </a:r>
          </a:p>
          <a:p>
            <a:pPr>
              <a:defRPr sz="1250">
                <a:solidFill>
                  <a:srgbClr val="1E293B"/>
                </a:solidFill>
              </a:defRPr>
            </a:pPr>
            <a:r>
              <a:t>• Truyền tệp không dây (Mở rộng): Có thể dùng Quick Share (Android sang Windows), AirDrop (Apple), hoặc gửi file qua Zalo / Telegram Web.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100" b="1">
                <a:solidFill>
                  <a:srgbClr val="93C5FD"/>
                </a:solidFill>
                <a:latin typeface="Calibri"/>
              </a:defRPr>
            </a:pPr>
            <a:r>
              <a:t>TIN HỌC 10 - BÀI 7: THỰC HÀNH SỬ DỤNG THIẾT BỊ SỐ THÔNG DỤNG</a:t>
            </a:r>
          </a:p>
          <a:p>
            <a:pPr>
              <a:defRPr sz="2100" b="1">
                <a:solidFill>
                  <a:srgbClr val="FFFFFF"/>
                </a:solidFill>
                <a:latin typeface="Calibri"/>
              </a:defRPr>
            </a:pPr>
            <a:r>
              <a:t>VẬN DỤNG 2 (VD2): LƯU TRỮ ẢNH TRÊN DỊCH VỤ ĐÁM MÂY (GOOGLE DRIVE / ONEDRIVE)</a:t>
            </a:r>
          </a:p>
        </p:txBody>
      </p:sp>
      <p:sp>
        <p:nvSpPr>
          <p:cNvPr id="3" name="Rounded Rectangle 2"/>
          <p:cNvSpPr/>
          <p:nvPr/>
        </p:nvSpPr>
        <p:spPr>
          <a:xfrm>
            <a:off x="731520" y="1645920"/>
            <a:ext cx="6217920" cy="46634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600" b="1">
                <a:solidFill>
                  <a:srgbClr val="1A365D"/>
                </a:solidFill>
                <a:latin typeface="Calibri"/>
              </a:defRPr>
            </a:pPr>
            <a:r>
              <a:t>☁️ 5 BƯỚC THỰC HIỆN LƯU TRỮ ĐÁM MÂY:</a:t>
            </a:r>
          </a:p>
          <a:p>
            <a:pPr>
              <a:defRPr sz="1200">
                <a:solidFill>
                  <a:srgbClr val="1E293B"/>
                </a:solidFill>
              </a:defRPr>
            </a:pPr>
            <a:r>
              <a:t>Bước 1: Mở ứng dụng Google Drive trên điện thoại (hoặc vào drive.google.com trên máy tính).</a:t>
            </a:r>
          </a:p>
          <a:p>
            <a:pPr>
              <a:defRPr sz="1200">
                <a:solidFill>
                  <a:srgbClr val="1E293B"/>
                </a:solidFill>
              </a:defRPr>
            </a:pPr>
            <a:r>
              <a:t>Bước 2: Đăng nhập bằng tài khoản Google (Gmail) hoặc tài khoản Microsoft.</a:t>
            </a:r>
          </a:p>
          <a:p>
            <a:pPr>
              <a:defRPr sz="1200">
                <a:solidFill>
                  <a:srgbClr val="1E293B"/>
                </a:solidFill>
              </a:defRPr>
            </a:pPr>
            <a:r>
              <a:t>Bước 3: Nhấn nút dấu cộng '+' ➔ Chọn 'Thư mục mới' ➔ Đặt tên thư mục: 'Anh_Thuc_Hanh_Tin_10'.</a:t>
            </a:r>
          </a:p>
          <a:p>
            <a:pPr>
              <a:defRPr sz="1200">
                <a:solidFill>
                  <a:srgbClr val="1E293B"/>
                </a:solidFill>
              </a:defRPr>
            </a:pPr>
            <a:r>
              <a:t>Bước 4: Mở thư mục vừa tạo ➔ Nhấn dấu '+' ➔ Chọn 'Tải lên' (Upload) ➔ Chọn Hình ảnh ➔ Tích chọn những bức ảnh muốn sao lưu.</a:t>
            </a:r>
          </a:p>
          <a:p>
            <a:pPr>
              <a:defRPr sz="1200">
                <a:solidFill>
                  <a:srgbClr val="1E293B"/>
                </a:solidFill>
              </a:defRPr>
            </a:pPr>
            <a:r>
              <a:t>Bước 5: Chờ tải lên hoàn tất ➔ Dữ liệu đã được bảo vệ vĩnh viễn trên đám mây an toàn.</a:t>
            </a:r>
          </a:p>
        </p:txBody>
      </p:sp>
      <p:sp>
        <p:nvSpPr>
          <p:cNvPr id="4" name="Rounded Rectangle 3"/>
          <p:cNvSpPr/>
          <p:nvPr/>
        </p:nvSpPr>
        <p:spPr>
          <a:xfrm>
            <a:off x="7223760" y="1645920"/>
            <a:ext cx="4206240" cy="466344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00" b="1">
                <a:solidFill>
                  <a:srgbClr val="2563EB"/>
                </a:solidFill>
                <a:latin typeface="Calibri"/>
              </a:defRPr>
            </a:pPr>
            <a:r>
              <a:t>🌟 LỢI ÍCH CỦA LƯU TRỮ ĐÁM MÂY:</a:t>
            </a:r>
          </a:p>
          <a:p>
            <a:pPr>
              <a:defRPr sz="1250">
                <a:solidFill>
                  <a:srgbClr val="1E293B"/>
                </a:solidFill>
              </a:defRPr>
            </a:pPr>
            <a:r>
              <a:t>✔ Truy cập mọi lúc, mọi nơi: Xem và tải ảnh trên mọi thiết bị kết nối mạng.</a:t>
            </a:r>
          </a:p>
          <a:p>
            <a:pPr>
              <a:defRPr sz="1250">
                <a:solidFill>
                  <a:srgbClr val="1E293B"/>
                </a:solidFill>
              </a:defRPr>
            </a:pPr>
            <a:r>
              <a:t>✔ An toàn tuyệt đối: Không sợ mất dữ liệu khi hỏng hóc hoặc mất điện thoại.</a:t>
            </a:r>
          </a:p>
          <a:p>
            <a:pPr>
              <a:defRPr sz="1250">
                <a:solidFill>
                  <a:srgbClr val="1E293B"/>
                </a:solidFill>
              </a:defRPr>
            </a:pPr>
            <a:r>
              <a:t>✔ Giải phóng bộ nhớ: Cho phép xóa ảnh trên máy sau khi đã sao lưu đám mây.</a:t>
            </a:r>
          </a:p>
          <a:p>
            <a:pPr>
              <a:defRPr sz="1250">
                <a:solidFill>
                  <a:srgbClr val="1E293B"/>
                </a:solidFill>
              </a:defRPr>
            </a:pPr>
            <a:r>
              <a:t>✔ Chia sẻ siêu tốc: Tạo liên kết (link) gửi ảnh cho thầy cô và bạn bè chỉ với 1 chạm.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8655" cy="1005840"/>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rIns="274320" bIns="91440"/>
          <a:lstStyle/>
          <a:p>
            <a:pPr algn="ctr">
              <a:defRPr sz="1100" b="1">
                <a:solidFill>
                  <a:srgbClr val="93C5FD"/>
                </a:solidFill>
                <a:latin typeface="Calibri"/>
              </a:defRPr>
            </a:pPr>
            <a:r>
              <a:t>TIN HỌC 10 - BÀI 7: THỰC HÀNH SỬ DỤNG THIẾT BỊ SỐ THÔNG DỤNG</a:t>
            </a:r>
          </a:p>
          <a:p>
            <a:pPr>
              <a:defRPr sz="2100" b="1">
                <a:solidFill>
                  <a:srgbClr val="FFFFFF"/>
                </a:solidFill>
                <a:latin typeface="Calibri"/>
              </a:defRPr>
            </a:pPr>
            <a:r>
              <a:t>VẬN DỤNG 3 (VD3) &amp; TỔNG KẾT KIẾN THỨC CỐT LÕI BÀI 7</a:t>
            </a:r>
          </a:p>
        </p:txBody>
      </p:sp>
      <p:sp>
        <p:nvSpPr>
          <p:cNvPr id="3" name="Rounded Rectangle 2"/>
          <p:cNvSpPr/>
          <p:nvPr/>
        </p:nvSpPr>
        <p:spPr>
          <a:xfrm>
            <a:off x="731520" y="1645920"/>
            <a:ext cx="5212080" cy="466344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00" b="1">
                <a:solidFill>
                  <a:srgbClr val="EA580C"/>
                </a:solidFill>
                <a:latin typeface="Calibri"/>
              </a:defRPr>
            </a:pPr>
            <a:r>
              <a:t>💬 VẬN DỤNG 3 (SGK TRANG 37)</a:t>
            </a:r>
          </a:p>
          <a:p>
            <a:pPr>
              <a:defRPr sz="1300" b="1">
                <a:solidFill>
                  <a:srgbClr val="1A365D"/>
                </a:solidFill>
              </a:defRPr>
            </a:pPr>
            <a:r>
              <a:t>Đề bài: Gửi ảnh qua phần mềm hỗ trợ học tập trực tuyến (Zoom / Meet / Teams / Zalo).</a:t>
            </a:r>
          </a:p>
          <a:p>
            <a:pPr>
              <a:defRPr sz="1200">
                <a:solidFill>
                  <a:srgbClr val="1E293B"/>
                </a:solidFill>
              </a:defRPr>
            </a:pPr>
            <a:r>
              <a:t>• Trên Zoom / Google Meet / MS Teams:</a:t>
            </a:r>
          </a:p>
          <a:p>
            <a:pPr>
              <a:defRPr sz="1200">
                <a:solidFill>
                  <a:srgbClr val="1E293B"/>
                </a:solidFill>
              </a:defRPr>
            </a:pPr>
            <a:r>
              <a:t>  - Trong phòng học trực tuyến, mở khung Trò chuyện (Chat).</a:t>
            </a:r>
          </a:p>
          <a:p>
            <a:pPr>
              <a:defRPr sz="1200">
                <a:solidFill>
                  <a:srgbClr val="1E293B"/>
                </a:solidFill>
              </a:defRPr>
            </a:pPr>
            <a:r>
              <a:t>  - Nhấn vào biểu tượng đính kèm tệp (hình kẹp ghim 📎) hoặc biểu tượng ảnh.</a:t>
            </a:r>
          </a:p>
          <a:p>
            <a:pPr>
              <a:defRPr sz="1200">
                <a:solidFill>
                  <a:srgbClr val="1E293B"/>
                </a:solidFill>
              </a:defRPr>
            </a:pPr>
            <a:r>
              <a:t>  - Chọn ảnh chụp bài thực hành từ thư viện điện thoại/máy tính ➔ Nhấn Gửi.</a:t>
            </a:r>
          </a:p>
          <a:p>
            <a:pPr>
              <a:defRPr sz="1200">
                <a:solidFill>
                  <a:srgbClr val="1E293B"/>
                </a:solidFill>
              </a:defRPr>
            </a:pPr>
            <a:r>
              <a:t>• Trên Zalo / Nhóm học tập:</a:t>
            </a:r>
          </a:p>
          <a:p>
            <a:pPr>
              <a:defRPr sz="1200">
                <a:solidFill>
                  <a:srgbClr val="1E293B"/>
                </a:solidFill>
              </a:defRPr>
            </a:pPr>
            <a:r>
              <a:t>  - Nhấp vào biểu tượng Hình ảnh ➔ Chọn chế độ HD để giữ nguyên độ nét ➔ Gửi cho giáo viên bộ môn.</a:t>
            </a:r>
          </a:p>
        </p:txBody>
      </p:sp>
      <p:sp>
        <p:nvSpPr>
          <p:cNvPr id="4" name="Rounded Rectangle 3"/>
          <p:cNvSpPr/>
          <p:nvPr/>
        </p:nvSpPr>
        <p:spPr>
          <a:xfrm>
            <a:off x="6217920" y="1645920"/>
            <a:ext cx="5212080" cy="4663440"/>
          </a:xfrm>
          <a:prstGeom prst="roundRect">
            <a:avLst/>
          </a:prstGeom>
          <a:solidFill>
            <a:srgbClr val="EFF6FF"/>
          </a:solidFill>
          <a:ln w="1905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00" b="1">
                <a:solidFill>
                  <a:srgbClr val="1A365D"/>
                </a:solidFill>
                <a:latin typeface="Calibri"/>
              </a:defRPr>
            </a:pPr>
            <a:r>
              <a:t>📌 4 ĐIỀU GHI NHỚ CỐT LÕI CỦA BÀI 7</a:t>
            </a:r>
          </a:p>
          <a:p>
            <a:pPr>
              <a:defRPr sz="1200">
                <a:solidFill>
                  <a:srgbClr val="1E293B"/>
                </a:solidFill>
              </a:defRPr>
            </a:pPr>
            <a:r>
              <a:t>1. Trợ thủ số (PDA): Nhỏ gọn, cơ động, hệ điều hành riêng và tích hợp kết nối mạng không dây tốc độ cao.</a:t>
            </a:r>
          </a:p>
          <a:p>
            <a:pPr>
              <a:defRPr sz="1200">
                <a:solidFill>
                  <a:srgbClr val="1E293B"/>
                </a:solidFill>
              </a:defRPr>
            </a:pPr>
            <a:r>
              <a:t>2. Điểm phân biệt Smartphone: Có hệ điều hành (Android, iOS) và cài đặt được kho ứng dụng phong phú.</a:t>
            </a:r>
          </a:p>
          <a:p>
            <a:pPr>
              <a:defRPr sz="1200">
                <a:solidFill>
                  <a:srgbClr val="1E293B"/>
                </a:solidFill>
              </a:defRPr>
            </a:pPr>
            <a:r>
              <a:t>3. Quản lý tệp chuẩn xác: Cấu trúc thư mục hình cây; ảnh chụp lưu tại 'Internal Storage / DCIM / Camera'.</a:t>
            </a:r>
          </a:p>
          <a:p>
            <a:pPr>
              <a:defRPr sz="1200">
                <a:solidFill>
                  <a:srgbClr val="1E293B"/>
                </a:solidFill>
              </a:defRPr>
            </a:pPr>
            <a:r>
              <a:t>4. Kỹ năng dữ liệu thời đại số: Thành thạo cả truyền tệp có dây (cáp USB - chế độ MTP) và sao lưu đám mây không dây (Google Drive, OneDrive).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645920" y="1188720"/>
            <a:ext cx="8899855" cy="44805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640080"/>
          <a:lstStyle/>
          <a:p>
            <a:pPr algn="ctr">
              <a:defRPr sz="2800" b="1">
                <a:solidFill>
                  <a:srgbClr val="1A365D"/>
                </a:solidFill>
                <a:latin typeface="Calibri"/>
              </a:defRPr>
            </a:pPr>
            <a:r>
              <a:t>CẢM ƠN THẦY CÔ VÀ CÁC BẠN</a:t>
            </a:r>
            <a:br/>
            <a:r>
              <a:t>ĐÃ CHÚ Ý THEO DÕI BÀI THUYẾT TRÌNH!</a:t>
            </a:r>
          </a:p>
          <a:p>
            <a:pPr algn="ctr">
              <a:defRPr sz="1200">
                <a:solidFill>
                  <a:srgbClr val="0D9488"/>
                </a:solidFill>
              </a:defRPr>
            </a:pPr>
            <a:r>
              <a:t>━━━━━━━━━━━━━━━━━━━━━━━━━━━━━━━━━</a:t>
            </a:r>
          </a:p>
          <a:p>
            <a:pPr algn="ctr">
              <a:defRPr sz="1800" b="1">
                <a:solidFill>
                  <a:srgbClr val="2563EB"/>
                </a:solidFill>
                <a:latin typeface="Calibri"/>
              </a:defRPr>
            </a:pPr>
            <a:r>
              <a:t>RẤT MONG NHẬN ĐƯỢC NHỮNG Ý KIẾN ĐÓNG GÓP VÀ CÂU HỎI TỪ MỌI NGƯỜI!</a:t>
            </a:r>
            <a:br/>
            <a:br/>
            <a:r>
              <a:t>❓ PHẦN HỎI ĐÁP (Q &amp; 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